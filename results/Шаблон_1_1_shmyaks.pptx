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AFCFF"/>
                </a:solidFill>
                <a:latin typeface="Arial"/>
              </a:rPr>
              <a:t>AI-сервис автоматической генерации корпоративных презентаций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3770" y="2199720"/>
            <a:ext cx="4288279" cy="894079"/>
          </a:xfrm>
        </p:spPr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FAFCFF"/>
                </a:solidFill>
                <a:latin typeface="Arial"/>
              </a:rPr>
              <a:t>Сократить время создания типовой презентации в 8–10 раз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60% времени уходит на оформление презентации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Качество зависит от навыков конкретного сотрудника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Проблема: ручная работа над презентацией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Наше решение: автоматизация процесса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00112"/>
            <a:ext cx="2643200" cy="1799518"/>
          </a:xfrm>
          <a:prstGeom prst="roundRect">
            <a:avLst/>
          </a:prstGeom>
          <a:solidFill>
            <a:srgbClr val="FAFCFF"/>
          </a:solidFill>
          <a:ln>
            <a:solidFill>
              <a:srgbClr val="00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00112"/>
            <a:ext cx="58000" cy="1799518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7200" y="1020112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AFC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200" y="1005112"/>
            <a:ext cx="19332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</a:rPr>
              <a:t>Загрузка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7200" y="1480112"/>
            <a:ext cx="2373200" cy="112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Текст, документ или тезисы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0400" y="900112"/>
            <a:ext cx="2643200" cy="1799518"/>
          </a:xfrm>
          <a:prstGeom prst="roundRect">
            <a:avLst/>
          </a:prstGeom>
          <a:solidFill>
            <a:srgbClr val="FAFCFF"/>
          </a:solidFill>
          <a:ln>
            <a:solidFill>
              <a:srgbClr val="00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50400" y="900112"/>
            <a:ext cx="58000" cy="1799518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00400" y="1020112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AFC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0400" y="1005112"/>
            <a:ext cx="19332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</a:rPr>
              <a:t>Структуризация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0400" y="1480112"/>
            <a:ext cx="2373200" cy="112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Формирование структуры презентации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3600" y="900112"/>
            <a:ext cx="2643200" cy="1799518"/>
          </a:xfrm>
          <a:prstGeom prst="roundRect">
            <a:avLst/>
          </a:prstGeom>
          <a:solidFill>
            <a:srgbClr val="FAFCFF"/>
          </a:solidFill>
          <a:ln>
            <a:solidFill>
              <a:srgbClr val="00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43600" y="900112"/>
            <a:ext cx="58000" cy="1799518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3600" y="1020112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AFC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3600" y="1005112"/>
            <a:ext cx="19332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Автоматическое форматирование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3600" y="1480112"/>
            <a:ext cx="2373200" cy="112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Создание слайдов в корпоративном стиле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829630"/>
            <a:ext cx="2643200" cy="1799518"/>
          </a:xfrm>
          <a:prstGeom prst="roundRect">
            <a:avLst/>
          </a:prstGeom>
          <a:solidFill>
            <a:srgbClr val="FAFCFF"/>
          </a:solidFill>
          <a:ln>
            <a:solidFill>
              <a:srgbClr val="00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829630"/>
            <a:ext cx="58000" cy="1799518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7200" y="2949630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AFC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7200" y="2934630"/>
            <a:ext cx="19332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</a:rPr>
              <a:t>Проверка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200" y="3409630"/>
            <a:ext cx="2373200" cy="112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Контроль качества и исправления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50400" y="2829630"/>
            <a:ext cx="2643200" cy="1799518"/>
          </a:xfrm>
          <a:prstGeom prst="roundRect">
            <a:avLst/>
          </a:prstGeom>
          <a:solidFill>
            <a:srgbClr val="FAFCFF"/>
          </a:solidFill>
          <a:ln>
            <a:solidFill>
              <a:srgbClr val="00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50400" y="2829630"/>
            <a:ext cx="58000" cy="1799518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00400" y="2949630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AFC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70400" y="2934630"/>
            <a:ext cx="19332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Готовый результат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0400" y="3409630"/>
            <a:ext cx="2373200" cy="112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Корпоративная презентация за несколько минут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77971" y="1880499"/>
            <a:ext cx="3862387" cy="2851521"/>
          </a:xfrm>
        </p:spPr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FAFCFF"/>
                </a:solidFill>
                <a:latin typeface="Arial"/>
              </a:rPr>
              <a:t>Анализ данных: определение цели и структуры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FAFCFF"/>
                </a:solidFill>
                <a:latin typeface="Arial"/>
              </a:rPr>
              <a:t>Формирование сценария: Problem → Insight → Solution → Evidence → Result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FAFCFF"/>
                </a:solidFill>
                <a:latin typeface="Arial"/>
              </a:rPr>
              <a:t>Генерация JSON: структурированный формат для каждого слайда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FAFCFF"/>
                </a:solidFill>
                <a:latin typeface="Arial"/>
              </a:rPr>
              <a:t>Template Engine: выбор шаблона и адаптация контента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FAFCFF"/>
                </a:solidFill>
                <a:latin typeface="Arial"/>
              </a:rPr>
              <a:t>Качество: проверка текста, элементов и шаблона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AFCFF"/>
                </a:solidFill>
                <a:latin typeface="Arial"/>
              </a:rPr>
              <a:t>Как работает сервис: 5 шагов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LLM отвечает за смысл, Template Engine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— за дизайн.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Архитектура сервиса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AFCFF"/>
                </a:solidFill>
                <a:latin typeface="Arial"/>
              </a:rPr>
              <a:t>Преимущества подхода: JSON + шаблоны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00112"/>
            <a:ext cx="4024800" cy="3729037"/>
          </a:xfrm>
          <a:prstGeom prst="roundRect">
            <a:avLst/>
          </a:prstGeom>
          <a:solidFill>
            <a:srgbClr val="2C303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900112"/>
            <a:ext cx="4024800" cy="65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Генеративный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7200" y="1620112"/>
            <a:ext cx="3844800" cy="29390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AFCFF"/>
                </a:solidFill>
                <a:latin typeface="Arial"/>
              </a:rPr>
              <a:t>Не контролирует оформление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AFCFF"/>
                </a:solidFill>
                <a:latin typeface="Arial"/>
              </a:rPr>
              <a:t>Результат зависит от навыков модели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2000" y="900112"/>
            <a:ext cx="4024800" cy="3729037"/>
          </a:xfrm>
          <a:prstGeom prst="roundRect">
            <a:avLst/>
          </a:prstGeom>
          <a:solidFill>
            <a:srgbClr val="2C3035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62000" y="900112"/>
            <a:ext cx="4024800" cy="65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JSON + шаблоны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2000" y="1620112"/>
            <a:ext cx="3844800" cy="29390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AFCFF"/>
                </a:solidFill>
                <a:latin typeface="Arial"/>
              </a:rPr>
              <a:t>Оформление детерминировано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AFCFF"/>
                </a:solidFill>
                <a:latin typeface="Arial"/>
              </a:rPr>
              <a:t>Корпоративный стиль гарантирован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Качество сервиса: измеряемые метрики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00112"/>
            <a:ext cx="1819275" cy="1600200"/>
          </a:xfrm>
          <a:prstGeom prst="roundRect">
            <a:avLst/>
          </a:prstGeom>
          <a:solidFill>
            <a:srgbClr val="FE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00112"/>
            <a:ext cx="1819275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≥95%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60232"/>
            <a:ext cx="1819275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Arial"/>
              </a:rPr>
              <a:t>Корректная сборка слайдов без нарушения layout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93975" y="900112"/>
            <a:ext cx="1819275" cy="1600200"/>
          </a:xfrm>
          <a:prstGeom prst="roundRect">
            <a:avLst/>
          </a:prstGeom>
          <a:solidFill>
            <a:srgbClr val="FE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93975" y="900112"/>
            <a:ext cx="1819275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≥90%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93975" y="1860232"/>
            <a:ext cx="1819275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Соответствие корпоративным правилам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30750" y="900112"/>
            <a:ext cx="1819275" cy="1600200"/>
          </a:xfrm>
          <a:prstGeom prst="roundRect">
            <a:avLst/>
          </a:prstGeom>
          <a:solidFill>
            <a:srgbClr val="FE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0750" y="900112"/>
            <a:ext cx="1819275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≤10%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0750" y="1860232"/>
            <a:ext cx="1819275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Arial"/>
              </a:rPr>
              <a:t>Слайды, требующие ручной корректировки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67525" y="900112"/>
            <a:ext cx="1819275" cy="1600200"/>
          </a:xfrm>
          <a:prstGeom prst="roundRect">
            <a:avLst/>
          </a:prstGeom>
          <a:solidFill>
            <a:srgbClr val="FE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67525" y="900112"/>
            <a:ext cx="1819275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&lt;2 минут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7525" y="1860232"/>
            <a:ext cx="1819275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Генерация 10–15 слайдов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AFCFF"/>
                </a:solidFill>
                <a:latin typeface="Arial"/>
              </a:rPr>
              <a:t>Бизнес-эффект: экономия времени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FAFCFF"/>
                </a:solidFill>
                <a:latin typeface="Arial"/>
              </a:rPr>
              <a:t>Создание презентации вручную занимает 3 часа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FAFCFF"/>
                </a:solidFill>
                <a:latin typeface="Arial"/>
              </a:rPr>
              <a:t>Создание презентации с сервисом занимает 20 минут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FAFCFF"/>
                </a:solidFill>
                <a:latin typeface="Arial"/>
              </a:rPr>
              <a:t>Экономия составляет ≈2,7 часа на одну презентацию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Дополнительный эффект для компании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5748" y="1127760"/>
            <a:ext cx="8572456" cy="3334456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Единый корпоративный стиль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Быстрее коммуникация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49" y="1209852"/>
            <a:ext cx="6648415" cy="3252364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Презентации выглядят одинаково независимо от навыков сотрудников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Аналитик или менеджер может быстрее превратить результаты работы в понятный материал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AFCFF"/>
                </a:solidFill>
                <a:latin typeface="Arial"/>
              </a:rPr>
              <a:t>Развитие продукта: от MVP до корпоративной платформы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00112"/>
          <a:ext cx="8229600" cy="3729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932259"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FAFCFF"/>
                          </a:solidFill>
                          <a:latin typeface="Arial"/>
                        </a:rPr>
                        <a:t>Этап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FAFCFF"/>
                          </a:solidFill>
                          <a:latin typeface="Arial"/>
                        </a:rPr>
                        <a:t>Описание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932259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rial"/>
                        </a:rPr>
                        <a:t>MVP</a:t>
                      </a:r>
                    </a:p>
                  </a:txBody>
                  <a:tcPr marL="101600" marR="101600" marT="63500" marB="63500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8 базовых шаблонов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Text → Presentation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JSON-based generation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PPTX export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Basic Quality Check</a:t>
                      </a:r>
                    </a:p>
                  </a:txBody>
                  <a:tcPr marL="101600" marR="101600" marT="63500" marB="63500">
                    <a:solidFill>
                      <a:srgbClr val="FAFCFF"/>
                    </a:solidFill>
                  </a:tcPr>
                </a:tc>
              </a:tr>
              <a:tr h="932259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rial"/>
                        </a:rPr>
                        <a:t>Корпоративная база шаблонов</a:t>
                      </a:r>
                    </a:p>
                  </a:txBody>
                  <a:tcPr marL="101600" marR="101600" marT="63500" marB="63500"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Автоматическая генерация графиков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Работа с DOCX и PDF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Работа с таблицами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Редактирование отдельных слайдов через AI</a:t>
                      </a:r>
                    </a:p>
                  </a:txBody>
                  <a:tcPr marL="101600" marR="101600" marT="63500" marB="63500">
                    <a:solidFill>
                      <a:srgbClr val="FEFFFF"/>
                    </a:solidFill>
                  </a:tcPr>
                </a:tc>
              </a:tr>
              <a:tr h="9322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rial"/>
                        </a:rPr>
                        <a:t>Интеграция с внутренними системами</a:t>
                      </a:r>
                    </a:p>
                  </a:txBody>
                  <a:tcPr marL="101600" marR="101600" marT="63500" marB="63500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Интеграция с корпоративными базами знаний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Автоматическое обновление презентаций при изменении данных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Совместная работа команд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Корпоративная база компонентов и шаблонов</a:t>
                      </a:r>
                    </a:p>
                  </a:txBody>
                  <a:tcPr marL="101600" marR="101600" marT="63500" marB="63500">
                    <a:solidFill>
                      <a:srgbClr val="FAFC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От данных до презентации — за минуты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5749" y="1127760"/>
            <a:ext cx="8553405" cy="3099917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8–10 раз быстрее создание презентаций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&lt;10 мин до первой пригодной версии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≥90% слайдов без ручной переработки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≈24 млн ₽ / год потенциальный эффект в базовом расчётном сценарии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