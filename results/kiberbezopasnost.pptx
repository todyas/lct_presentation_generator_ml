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06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Тематическая презентация «Кибербезопасность» (10 слайдов).
Иконки: Font Awesome Free, лицензия CC BY 4.0 — https://fontawesome.com/license/free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Заключительный слайд.
Иконки: Font Awesome Free, лицензия CC BY 4.0 — https://fontawesome.com/license/free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hlinkClick r:id="rId3"/>
            <a:extLst>
              <a:ext uri="{FF2B5EF4-FFF2-40B4-BE49-F238E27FC236}">
                <a16:creationId xmlns:a16="http://schemas.microsoft.com/office/drawing/2014/main" id="{E5B58264-EB9E-4B14-A187-A0FD80FA117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EDA8C80-26FB-4CAC-B495-28CD13A723AD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9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194560"/>
            <a:ext cx="5029200" cy="5029200"/>
          </a:xfrm>
          <a:prstGeom prst="ellipse">
            <a:avLst/>
          </a:prstGeom>
          <a:solidFill>
            <a:srgbClr val="1D2C44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108960"/>
            <a:ext cx="4023360" cy="4023360"/>
          </a:xfrm>
          <a:prstGeom prst="ellipse">
            <a:avLst/>
          </a:prstGeom>
          <a:solidFill>
            <a:srgbClr val="1D2C4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606040"/>
            <a:ext cx="219456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Кибербезопасность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77240" y="259689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B5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защитить себя и свои данные в интернете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2075688" y="3666744"/>
            <a:ext cx="749808" cy="749808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140" y="3854196"/>
            <a:ext cx="374904" cy="37490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136392" y="3666744"/>
            <a:ext cx="749808" cy="749808"/>
          </a:xfrm>
          <a:prstGeom prst="ellipse">
            <a:avLst/>
          </a:prstGeom>
          <a:solidFill>
            <a:srgbClr val="E8A33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3844" y="3854196"/>
            <a:ext cx="374904" cy="37490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197096" y="3666744"/>
            <a:ext cx="749808" cy="749808"/>
          </a:xfrm>
          <a:prstGeom prst="ellipse">
            <a:avLst/>
          </a:prstGeom>
          <a:solidFill>
            <a:srgbClr val="DC4F4F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4548" y="3854196"/>
            <a:ext cx="374904" cy="37490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257800" y="3666744"/>
            <a:ext cx="749808" cy="749808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5252" y="3854196"/>
            <a:ext cx="374904" cy="374904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318504" y="3666744"/>
            <a:ext cx="749808" cy="749808"/>
          </a:xfrm>
          <a:prstGeom prst="ellipse">
            <a:avLst/>
          </a:prstGeom>
          <a:solidFill>
            <a:srgbClr val="E8A33A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956" y="3854196"/>
            <a:ext cx="374904" cy="37490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77240" y="462686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слайдов  ·  тематическая презентация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402336"/>
            <a:ext cx="512064" cy="512064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30352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34747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кибербезопасность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52728" y="89611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человека и его данных в цифровом мире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4114800" cy="1920240"/>
          </a:xfrm>
          <a:prstGeom prst="roundRect">
            <a:avLst>
              <a:gd name="adj" fmla="val 4286"/>
            </a:avLst>
          </a:prstGeom>
          <a:solidFill>
            <a:srgbClr val="F1F4F7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417320"/>
            <a:ext cx="82296" cy="1920240"/>
          </a:xfrm>
          <a:prstGeom prst="rect">
            <a:avLst/>
          </a:prstGeom>
          <a:solidFill>
            <a:srgbClr val="0FA3B7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536192"/>
            <a:ext cx="3566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Кибербезопасность — это защита компьютеров, телефонов и личных данных от вирусов, мошенников и других угроз в интернете.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3529584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цифровом мире безопасность — такой же навык, как переход через дорогу.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93776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ОНА ЗАЩИЩАЕТ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1645920"/>
            <a:ext cx="3657600" cy="841248"/>
          </a:xfrm>
          <a:prstGeom prst="roundRect">
            <a:avLst>
              <a:gd name="adj" fmla="val 8696"/>
            </a:avLst>
          </a:prstGeom>
          <a:solidFill>
            <a:srgbClr val="F1F4F7"/>
          </a:solidFill>
          <a:ln/>
        </p:spPr>
      </p:sp>
      <p:sp>
        <p:nvSpPr>
          <p:cNvPr id="12" name="Shape 9"/>
          <p:cNvSpPr/>
          <p:nvPr/>
        </p:nvSpPr>
        <p:spPr>
          <a:xfrm>
            <a:off x="5148072" y="1801368"/>
            <a:ext cx="530352" cy="530352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0660" y="1933956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97296" y="173736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Личные данные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797296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пароли, фото, файлы и переписку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937760" y="2596896"/>
            <a:ext cx="3657600" cy="841248"/>
          </a:xfrm>
          <a:prstGeom prst="roundRect">
            <a:avLst>
              <a:gd name="adj" fmla="val 8696"/>
            </a:avLst>
          </a:prstGeom>
          <a:solidFill>
            <a:srgbClr val="F1F4F7"/>
          </a:solidFill>
          <a:ln/>
        </p:spPr>
      </p:sp>
      <p:sp>
        <p:nvSpPr>
          <p:cNvPr id="17" name="Shape 13"/>
          <p:cNvSpPr/>
          <p:nvPr/>
        </p:nvSpPr>
        <p:spPr>
          <a:xfrm>
            <a:off x="5148072" y="2752344"/>
            <a:ext cx="530352" cy="530352"/>
          </a:xfrm>
          <a:prstGeom prst="ellipse">
            <a:avLst/>
          </a:prstGeom>
          <a:solidFill>
            <a:srgbClr val="E8A33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660" y="2884932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97296" y="26883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Деньги и финансы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797296" y="2980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банковские карты и онлайн-кошельки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937760" y="3547872"/>
            <a:ext cx="3657600" cy="841248"/>
          </a:xfrm>
          <a:prstGeom prst="roundRect">
            <a:avLst>
              <a:gd name="adj" fmla="val 8696"/>
            </a:avLst>
          </a:prstGeom>
          <a:solidFill>
            <a:srgbClr val="F1F4F7"/>
          </a:solidFill>
          <a:ln/>
        </p:spPr>
      </p:sp>
      <p:sp>
        <p:nvSpPr>
          <p:cNvPr id="22" name="Shape 17"/>
          <p:cNvSpPr/>
          <p:nvPr/>
        </p:nvSpPr>
        <p:spPr>
          <a:xfrm>
            <a:off x="5148072" y="3703320"/>
            <a:ext cx="530352" cy="530352"/>
          </a:xfrm>
          <a:prstGeom prst="ellipse">
            <a:avLst/>
          </a:prstGeom>
          <a:solidFill>
            <a:srgbClr val="DC4F4F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0660" y="3835908"/>
            <a:ext cx="265176" cy="26517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97296" y="363931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Аккаунты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797296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соцсети, почту, мессенджеры и игры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028432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402336"/>
            <a:ext cx="512064" cy="512064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30352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34747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это важно знать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52728" y="89611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Цифровая безопасность касается каждого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1F4F7"/>
          </a:solidFill>
          <a:ln/>
        </p:spPr>
      </p:sp>
      <p:sp>
        <p:nvSpPr>
          <p:cNvPr id="7" name="Shape 4"/>
          <p:cNvSpPr/>
          <p:nvPr/>
        </p:nvSpPr>
        <p:spPr>
          <a:xfrm>
            <a:off x="886968" y="1485900"/>
            <a:ext cx="548640" cy="548640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16230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146304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Мы храним много данных в сети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783080" y="1764792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почта, соцсети, документы, банковские карты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221992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1F4F7"/>
          </a:solidFill>
          <a:ln/>
        </p:spPr>
      </p:sp>
      <p:sp>
        <p:nvSpPr>
          <p:cNvPr id="12" name="Shape 8"/>
          <p:cNvSpPr/>
          <p:nvPr/>
        </p:nvSpPr>
        <p:spPr>
          <a:xfrm>
            <a:off x="886968" y="2336292"/>
            <a:ext cx="548640" cy="548640"/>
          </a:xfrm>
          <a:prstGeom prst="ellipse">
            <a:avLst/>
          </a:prstGeom>
          <a:solidFill>
            <a:srgbClr val="E8A33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247345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231343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Цифровая жизнь — часть нашей жизни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783080" y="2615184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учёба, покупки и общение давно онлайн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072384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1F4F7"/>
          </a:solidFill>
          <a:ln/>
        </p:spPr>
      </p:sp>
      <p:sp>
        <p:nvSpPr>
          <p:cNvPr id="17" name="Shape 12"/>
          <p:cNvSpPr/>
          <p:nvPr/>
        </p:nvSpPr>
        <p:spPr>
          <a:xfrm>
            <a:off x="886968" y="3186684"/>
            <a:ext cx="548640" cy="548640"/>
          </a:xfrm>
          <a:prstGeom prst="ellipse">
            <a:avLst/>
          </a:prstGeom>
          <a:solidFill>
            <a:srgbClr val="DC4F4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332384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83080" y="31638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Мошенники не дремлют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783080" y="3465576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ежедневно случаются миллионы атак на пользователей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3922776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1F4F7"/>
          </a:solidFill>
          <a:ln/>
        </p:spPr>
      </p:sp>
      <p:sp>
        <p:nvSpPr>
          <p:cNvPr id="22" name="Shape 16"/>
          <p:cNvSpPr/>
          <p:nvPr/>
        </p:nvSpPr>
        <p:spPr>
          <a:xfrm>
            <a:off x="886968" y="4037076"/>
            <a:ext cx="548640" cy="548640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4174236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783080" y="401421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Потеря данных стоит дорого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783080" y="43159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испорченного настроения до денег и репутации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8028432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402336"/>
            <a:ext cx="512064" cy="512064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30352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34747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Основные киберугрозы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52728" y="89611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Главные опасности, с которыми можно столкнуться в сети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F1F4F7"/>
          </a:solidFill>
          <a:ln/>
        </p:spPr>
      </p:sp>
      <p:sp>
        <p:nvSpPr>
          <p:cNvPr id="7" name="Shape 4"/>
          <p:cNvSpPr/>
          <p:nvPr/>
        </p:nvSpPr>
        <p:spPr>
          <a:xfrm>
            <a:off x="813816" y="1618488"/>
            <a:ext cx="603504" cy="603504"/>
          </a:xfrm>
          <a:prstGeom prst="ellipse">
            <a:avLst/>
          </a:prstGeom>
          <a:solidFill>
            <a:srgbClr val="DC4F4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176936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17904" y="155448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Вирусы и вредоносы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517904" y="1956816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программы, которые портят устройство</a:t>
            </a:r>
            <a:endParaRPr lang="en-US" sz="970" dirty="0"/>
          </a:p>
        </p:txBody>
      </p:sp>
      <p:sp>
        <p:nvSpPr>
          <p:cNvPr id="11" name="Shape 7"/>
          <p:cNvSpPr/>
          <p:nvPr/>
        </p:nvSpPr>
        <p:spPr>
          <a:xfrm>
            <a:off x="3355848" y="1371600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F1F4F7"/>
          </a:solidFill>
          <a:ln/>
        </p:spPr>
      </p:sp>
      <p:sp>
        <p:nvSpPr>
          <p:cNvPr id="12" name="Shape 8"/>
          <p:cNvSpPr/>
          <p:nvPr/>
        </p:nvSpPr>
        <p:spPr>
          <a:xfrm>
            <a:off x="3621024" y="1618488"/>
            <a:ext cx="603504" cy="603504"/>
          </a:xfrm>
          <a:prstGeom prst="ellipse">
            <a:avLst/>
          </a:prstGeom>
          <a:solidFill>
            <a:srgbClr val="E8A33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176936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25112" y="155448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Фишинг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325112" y="1956816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поддельные письма и сайты-«ловушки»</a:t>
            </a:r>
            <a:endParaRPr lang="en-US" sz="970" dirty="0"/>
          </a:p>
        </p:txBody>
      </p:sp>
      <p:sp>
        <p:nvSpPr>
          <p:cNvPr id="16" name="Shape 11"/>
          <p:cNvSpPr/>
          <p:nvPr/>
        </p:nvSpPr>
        <p:spPr>
          <a:xfrm>
            <a:off x="6163056" y="1371600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F1F4F7"/>
          </a:solidFill>
          <a:ln/>
        </p:spPr>
      </p:sp>
      <p:sp>
        <p:nvSpPr>
          <p:cNvPr id="17" name="Shape 12"/>
          <p:cNvSpPr/>
          <p:nvPr/>
        </p:nvSpPr>
        <p:spPr>
          <a:xfrm>
            <a:off x="6428232" y="1618488"/>
            <a:ext cx="603504" cy="603504"/>
          </a:xfrm>
          <a:prstGeom prst="ellipse">
            <a:avLst/>
          </a:prstGeom>
          <a:solidFill>
            <a:srgbClr val="DC4F4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176936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155448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Кража данных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7132320" y="1956816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получают пароли и личные сведения</a:t>
            </a:r>
            <a:endParaRPr lang="en-US" sz="970" dirty="0"/>
          </a:p>
        </p:txBody>
      </p:sp>
      <p:sp>
        <p:nvSpPr>
          <p:cNvPr id="21" name="Shape 15"/>
          <p:cNvSpPr/>
          <p:nvPr/>
        </p:nvSpPr>
        <p:spPr>
          <a:xfrm>
            <a:off x="548640" y="3017520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F1F4F7"/>
          </a:solidFill>
          <a:ln/>
        </p:spPr>
      </p:sp>
      <p:sp>
        <p:nvSpPr>
          <p:cNvPr id="22" name="Shape 16"/>
          <p:cNvSpPr/>
          <p:nvPr/>
        </p:nvSpPr>
        <p:spPr>
          <a:xfrm>
            <a:off x="813816" y="3264408"/>
            <a:ext cx="603504" cy="603504"/>
          </a:xfrm>
          <a:prstGeom prst="ellipse">
            <a:avLst/>
          </a:prstGeom>
          <a:solidFill>
            <a:srgbClr val="E8A33A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" y="3415284"/>
            <a:ext cx="301752" cy="3017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17904" y="32004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Социальная инженерия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1517904" y="3602736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обман через звонки и сообщения</a:t>
            </a:r>
            <a:endParaRPr lang="en-US" sz="970" dirty="0"/>
          </a:p>
        </p:txBody>
      </p:sp>
      <p:sp>
        <p:nvSpPr>
          <p:cNvPr id="26" name="Shape 19"/>
          <p:cNvSpPr/>
          <p:nvPr/>
        </p:nvSpPr>
        <p:spPr>
          <a:xfrm>
            <a:off x="3355848" y="3017520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F1F4F7"/>
          </a:solidFill>
          <a:ln/>
        </p:spPr>
      </p:sp>
      <p:sp>
        <p:nvSpPr>
          <p:cNvPr id="27" name="Shape 20"/>
          <p:cNvSpPr/>
          <p:nvPr/>
        </p:nvSpPr>
        <p:spPr>
          <a:xfrm>
            <a:off x="3621024" y="3264408"/>
            <a:ext cx="603504" cy="603504"/>
          </a:xfrm>
          <a:prstGeom prst="ellipse">
            <a:avLst/>
          </a:prstGeom>
          <a:solidFill>
            <a:srgbClr val="DC4F4F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1900" y="3415284"/>
            <a:ext cx="301752" cy="30175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325112" y="32004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Опасные ссылки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4325112" y="3602736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 может скачать вирус или украсть данные</a:t>
            </a:r>
            <a:endParaRPr lang="en-US" sz="970" dirty="0"/>
          </a:p>
        </p:txBody>
      </p:sp>
      <p:sp>
        <p:nvSpPr>
          <p:cNvPr id="31" name="Shape 23"/>
          <p:cNvSpPr/>
          <p:nvPr/>
        </p:nvSpPr>
        <p:spPr>
          <a:xfrm>
            <a:off x="6163056" y="3017520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F1F4F7"/>
          </a:solidFill>
          <a:ln/>
        </p:spPr>
      </p:sp>
      <p:sp>
        <p:nvSpPr>
          <p:cNvPr id="32" name="Shape 24"/>
          <p:cNvSpPr/>
          <p:nvPr/>
        </p:nvSpPr>
        <p:spPr>
          <a:xfrm>
            <a:off x="6428232" y="3264408"/>
            <a:ext cx="603504" cy="603504"/>
          </a:xfrm>
          <a:prstGeom prst="ellipse">
            <a:avLst/>
          </a:prstGeom>
          <a:solidFill>
            <a:srgbClr val="E8A33A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9108" y="3415284"/>
            <a:ext cx="301752" cy="30175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32320" y="32004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Утечки данных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7132320" y="3602736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украденные базы попадают в открытый доступ</a:t>
            </a:r>
            <a:endParaRPr lang="en-US" sz="970" dirty="0"/>
          </a:p>
        </p:txBody>
      </p:sp>
      <p:sp>
        <p:nvSpPr>
          <p:cNvPr id="36" name="Text 27"/>
          <p:cNvSpPr/>
          <p:nvPr/>
        </p:nvSpPr>
        <p:spPr>
          <a:xfrm>
            <a:off x="8028432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402336"/>
            <a:ext cx="512064" cy="512064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30352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34747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Главные правила цифровой безопасности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52728" y="89611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Простые шаги, которые защищают от большинства угроз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1F4F7"/>
          </a:solidFill>
          <a:ln/>
        </p:spPr>
      </p:sp>
      <p:sp>
        <p:nvSpPr>
          <p:cNvPr id="7" name="Shape 4"/>
          <p:cNvSpPr/>
          <p:nvPr/>
        </p:nvSpPr>
        <p:spPr>
          <a:xfrm>
            <a:off x="813816" y="1591056"/>
            <a:ext cx="566928" cy="566928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1732788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5270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Сложные пароли</a:t>
            </a:r>
            <a:endParaRPr lang="en-US" sz="1230" dirty="0"/>
          </a:p>
        </p:txBody>
      </p:sp>
      <p:sp>
        <p:nvSpPr>
          <p:cNvPr id="10" name="Text 6"/>
          <p:cNvSpPr/>
          <p:nvPr/>
        </p:nvSpPr>
        <p:spPr>
          <a:xfrm>
            <a:off x="1508760" y="1874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символов, буквы, цифры, знаки</a:t>
            </a:r>
            <a:endParaRPr lang="en-US" sz="970" dirty="0"/>
          </a:p>
        </p:txBody>
      </p:sp>
      <p:sp>
        <p:nvSpPr>
          <p:cNvPr id="11" name="Shape 7"/>
          <p:cNvSpPr/>
          <p:nvPr/>
        </p:nvSpPr>
        <p:spPr>
          <a:xfrm>
            <a:off x="4663440" y="14173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1F4F7"/>
          </a:solidFill>
          <a:ln/>
        </p:spPr>
      </p:sp>
      <p:sp>
        <p:nvSpPr>
          <p:cNvPr id="12" name="Shape 8"/>
          <p:cNvSpPr/>
          <p:nvPr/>
        </p:nvSpPr>
        <p:spPr>
          <a:xfrm>
            <a:off x="4928616" y="1591056"/>
            <a:ext cx="566928" cy="566928"/>
          </a:xfrm>
          <a:prstGeom prst="ellipse">
            <a:avLst/>
          </a:prstGeom>
          <a:solidFill>
            <a:srgbClr val="E8A33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0348" y="173278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23560" y="15270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Разные пароли</a:t>
            </a:r>
            <a:endParaRPr lang="en-US" sz="1230" dirty="0"/>
          </a:p>
        </p:txBody>
      </p:sp>
      <p:sp>
        <p:nvSpPr>
          <p:cNvPr id="15" name="Text 10"/>
          <p:cNvSpPr/>
          <p:nvPr/>
        </p:nvSpPr>
        <p:spPr>
          <a:xfrm>
            <a:off x="5623560" y="1874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пароль для каждого сервиса</a:t>
            </a:r>
            <a:endParaRPr lang="en-US" sz="970" dirty="0"/>
          </a:p>
        </p:txBody>
      </p:sp>
      <p:sp>
        <p:nvSpPr>
          <p:cNvPr id="16" name="Shape 11"/>
          <p:cNvSpPr/>
          <p:nvPr/>
        </p:nvSpPr>
        <p:spPr>
          <a:xfrm>
            <a:off x="548640" y="2450592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1F4F7"/>
          </a:solidFill>
          <a:ln/>
        </p:spPr>
      </p:sp>
      <p:sp>
        <p:nvSpPr>
          <p:cNvPr id="17" name="Shape 12"/>
          <p:cNvSpPr/>
          <p:nvPr/>
        </p:nvSpPr>
        <p:spPr>
          <a:xfrm>
            <a:off x="813816" y="2624328"/>
            <a:ext cx="566928" cy="566928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" y="2766060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Двухфакторная аутентификация</a:t>
            </a:r>
            <a:endParaRPr lang="en-US" sz="1230" dirty="0"/>
          </a:p>
        </p:txBody>
      </p:sp>
      <p:sp>
        <p:nvSpPr>
          <p:cNvPr id="20" name="Text 14"/>
          <p:cNvSpPr/>
          <p:nvPr/>
        </p:nvSpPr>
        <p:spPr>
          <a:xfrm>
            <a:off x="1508760" y="290779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с дополнительным кодом</a:t>
            </a:r>
            <a:endParaRPr lang="en-US" sz="970" dirty="0"/>
          </a:p>
        </p:txBody>
      </p:sp>
      <p:sp>
        <p:nvSpPr>
          <p:cNvPr id="21" name="Shape 15"/>
          <p:cNvSpPr/>
          <p:nvPr/>
        </p:nvSpPr>
        <p:spPr>
          <a:xfrm>
            <a:off x="4663440" y="2450592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1F4F7"/>
          </a:solidFill>
          <a:ln/>
        </p:spPr>
      </p:sp>
      <p:sp>
        <p:nvSpPr>
          <p:cNvPr id="22" name="Shape 16"/>
          <p:cNvSpPr/>
          <p:nvPr/>
        </p:nvSpPr>
        <p:spPr>
          <a:xfrm>
            <a:off x="4928616" y="2624328"/>
            <a:ext cx="566928" cy="566928"/>
          </a:xfrm>
          <a:prstGeom prst="ellipse">
            <a:avLst/>
          </a:prstGeom>
          <a:solidFill>
            <a:srgbClr val="DC4F4F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0348" y="2766060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623560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 открывай подозрительные ссылки</a:t>
            </a:r>
            <a:endParaRPr lang="en-US" sz="1230" dirty="0"/>
          </a:p>
        </p:txBody>
      </p:sp>
      <p:sp>
        <p:nvSpPr>
          <p:cNvPr id="25" name="Text 18"/>
          <p:cNvSpPr/>
          <p:nvPr/>
        </p:nvSpPr>
        <p:spPr>
          <a:xfrm>
            <a:off x="5623560" y="290779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проверяй адрес и отправителя</a:t>
            </a:r>
            <a:endParaRPr lang="en-US" sz="970" dirty="0"/>
          </a:p>
        </p:txBody>
      </p:sp>
      <p:sp>
        <p:nvSpPr>
          <p:cNvPr id="26" name="Shape 19"/>
          <p:cNvSpPr/>
          <p:nvPr/>
        </p:nvSpPr>
        <p:spPr>
          <a:xfrm>
            <a:off x="548640" y="3483864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1F4F7"/>
          </a:solidFill>
          <a:ln/>
        </p:spPr>
      </p:sp>
      <p:sp>
        <p:nvSpPr>
          <p:cNvPr id="27" name="Shape 20"/>
          <p:cNvSpPr/>
          <p:nvPr/>
        </p:nvSpPr>
        <p:spPr>
          <a:xfrm>
            <a:off x="813816" y="3657600"/>
            <a:ext cx="566928" cy="566928"/>
          </a:xfrm>
          <a:prstGeom prst="ellipse">
            <a:avLst/>
          </a:prstGeom>
          <a:solidFill>
            <a:srgbClr val="E8A33A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548" y="3799332"/>
            <a:ext cx="283464" cy="28346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08760" y="359359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Обновляй программы</a:t>
            </a:r>
            <a:endParaRPr lang="en-US" sz="1230" dirty="0"/>
          </a:p>
        </p:txBody>
      </p:sp>
      <p:sp>
        <p:nvSpPr>
          <p:cNvPr id="30" name="Text 22"/>
          <p:cNvSpPr/>
          <p:nvPr/>
        </p:nvSpPr>
        <p:spPr>
          <a:xfrm>
            <a:off x="1508760" y="394106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версии закрывают уязвимости</a:t>
            </a:r>
            <a:endParaRPr lang="en-US" sz="970" dirty="0"/>
          </a:p>
        </p:txBody>
      </p:sp>
      <p:sp>
        <p:nvSpPr>
          <p:cNvPr id="31" name="Shape 23"/>
          <p:cNvSpPr/>
          <p:nvPr/>
        </p:nvSpPr>
        <p:spPr>
          <a:xfrm>
            <a:off x="4663440" y="3483864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1F4F7"/>
          </a:solidFill>
          <a:ln/>
        </p:spPr>
      </p:sp>
      <p:sp>
        <p:nvSpPr>
          <p:cNvPr id="32" name="Shape 24"/>
          <p:cNvSpPr/>
          <p:nvPr/>
        </p:nvSpPr>
        <p:spPr>
          <a:xfrm>
            <a:off x="4928616" y="3657600"/>
            <a:ext cx="566928" cy="566928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0348" y="3799332"/>
            <a:ext cx="283464" cy="28346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623560" y="359359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Включи антивирус</a:t>
            </a:r>
            <a:endParaRPr lang="en-US" sz="1230" dirty="0"/>
          </a:p>
        </p:txBody>
      </p:sp>
      <p:sp>
        <p:nvSpPr>
          <p:cNvPr id="35" name="Text 26"/>
          <p:cNvSpPr/>
          <p:nvPr/>
        </p:nvSpPr>
        <p:spPr>
          <a:xfrm>
            <a:off x="5623560" y="394106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работает в фоне всё время</a:t>
            </a:r>
            <a:endParaRPr lang="en-US" sz="970" dirty="0"/>
          </a:p>
        </p:txBody>
      </p:sp>
      <p:sp>
        <p:nvSpPr>
          <p:cNvPr id="36" name="Text 27"/>
          <p:cNvSpPr/>
          <p:nvPr/>
        </p:nvSpPr>
        <p:spPr>
          <a:xfrm>
            <a:off x="8028432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402336"/>
            <a:ext cx="512064" cy="512064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30352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34747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Надёжный пароль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52728" y="89611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замок твоих аккаунтов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FBE3E3"/>
          </a:solidFill>
          <a:ln/>
        </p:spPr>
      </p:sp>
      <p:sp>
        <p:nvSpPr>
          <p:cNvPr id="7" name="Shape 4"/>
          <p:cNvSpPr/>
          <p:nvPr/>
        </p:nvSpPr>
        <p:spPr>
          <a:xfrm>
            <a:off x="694944" y="1591056"/>
            <a:ext cx="566928" cy="566928"/>
          </a:xfrm>
          <a:prstGeom prst="ellipse">
            <a:avLst/>
          </a:prstGeom>
          <a:solidFill>
            <a:srgbClr val="DC4F4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1732788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5910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Слабый пароль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2423160"/>
            <a:ext cx="33832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простое слово или имя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короткий, меньше 8 символов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123456, qwerty, дата рождения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одинаковый на разных сайтах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 угадать или подобрать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663440" y="141732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DDF1F4"/>
          </a:solidFill>
          <a:ln/>
        </p:spPr>
      </p:sp>
      <p:sp>
        <p:nvSpPr>
          <p:cNvPr id="12" name="Shape 8"/>
          <p:cNvSpPr/>
          <p:nvPr/>
        </p:nvSpPr>
        <p:spPr>
          <a:xfrm>
            <a:off x="4809744" y="1591056"/>
            <a:ext cx="566928" cy="566928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476" y="173278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0" y="15910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A3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Надёжный пароль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983480" y="2423160"/>
            <a:ext cx="33832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символов и больше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буквы, цифры и знаки вместе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содержит личных данных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пароль для каждого сайта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фразу легче запомнить, чем слово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370832"/>
            <a:ext cx="8046720" cy="329184"/>
          </a:xfrm>
          <a:prstGeom prst="roundRect">
            <a:avLst>
              <a:gd name="adj" fmla="val 16667"/>
            </a:avLst>
          </a:prstGeom>
          <a:solidFill>
            <a:srgbClr val="0F1B2D"/>
          </a:solidFill>
          <a:ln/>
        </p:spPr>
      </p:sp>
      <p:sp>
        <p:nvSpPr>
          <p:cNvPr id="17" name="Text 12"/>
          <p:cNvSpPr/>
          <p:nvPr/>
        </p:nvSpPr>
        <p:spPr>
          <a:xfrm>
            <a:off x="731520" y="437083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придумай длинную фразу — её сложнее взломать и легче запомнить.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8028432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402336"/>
            <a:ext cx="512064" cy="512064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30352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34747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распознать фишинг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52728" y="89611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писем-«ловушек» и поддельных сайтов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389888"/>
            <a:ext cx="1947672" cy="2331720"/>
          </a:xfrm>
          <a:prstGeom prst="roundRect">
            <a:avLst>
              <a:gd name="adj" fmla="val 4225"/>
            </a:avLst>
          </a:prstGeom>
          <a:solidFill>
            <a:srgbClr val="F1F4F7"/>
          </a:solidFill>
          <a:ln/>
        </p:spPr>
      </p:sp>
      <p:sp>
        <p:nvSpPr>
          <p:cNvPr id="7" name="Shape 4"/>
          <p:cNvSpPr/>
          <p:nvPr/>
        </p:nvSpPr>
        <p:spPr>
          <a:xfrm>
            <a:off x="1147572" y="1618488"/>
            <a:ext cx="749808" cy="749808"/>
          </a:xfrm>
          <a:prstGeom prst="ellipse">
            <a:avLst/>
          </a:prstGeom>
          <a:solidFill>
            <a:srgbClr val="E8A33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1805940"/>
            <a:ext cx="374904" cy="374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" y="246888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Странный отправитель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76656" y="2852928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похож, но с ошибкой или лишним символом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697480" y="1389888"/>
            <a:ext cx="1947672" cy="2331720"/>
          </a:xfrm>
          <a:prstGeom prst="roundRect">
            <a:avLst>
              <a:gd name="adj" fmla="val 4225"/>
            </a:avLst>
          </a:prstGeom>
          <a:solidFill>
            <a:srgbClr val="F1F4F7"/>
          </a:solidFill>
          <a:ln/>
        </p:spPr>
      </p:sp>
      <p:sp>
        <p:nvSpPr>
          <p:cNvPr id="12" name="Shape 8"/>
          <p:cNvSpPr/>
          <p:nvPr/>
        </p:nvSpPr>
        <p:spPr>
          <a:xfrm>
            <a:off x="3296412" y="1618488"/>
            <a:ext cx="749808" cy="749808"/>
          </a:xfrm>
          <a:prstGeom prst="ellipse">
            <a:avLst/>
          </a:prstGeom>
          <a:solidFill>
            <a:srgbClr val="DC4F4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864" y="1805940"/>
            <a:ext cx="374904" cy="374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70632" y="246888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Ошибки в письме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825496" y="2852928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опечатки, плохой перевод, неаккуратное оформление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846320" y="1389888"/>
            <a:ext cx="1947672" cy="2331720"/>
          </a:xfrm>
          <a:prstGeom prst="roundRect">
            <a:avLst>
              <a:gd name="adj" fmla="val 4225"/>
            </a:avLst>
          </a:prstGeom>
          <a:solidFill>
            <a:srgbClr val="F1F4F7"/>
          </a:solidFill>
          <a:ln/>
        </p:spPr>
      </p:sp>
      <p:sp>
        <p:nvSpPr>
          <p:cNvPr id="17" name="Shape 12"/>
          <p:cNvSpPr/>
          <p:nvPr/>
        </p:nvSpPr>
        <p:spPr>
          <a:xfrm>
            <a:off x="5445252" y="1618488"/>
            <a:ext cx="749808" cy="749808"/>
          </a:xfrm>
          <a:prstGeom prst="ellipse">
            <a:avLst/>
          </a:prstGeom>
          <a:solidFill>
            <a:srgbClr val="DC4F4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704" y="1805940"/>
            <a:ext cx="374904" cy="3749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19472" y="246888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Срочно и страшно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974336" y="2852928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«срочно», «иначе аккаунт будет заблокирован»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995160" y="1389888"/>
            <a:ext cx="1947672" cy="2331720"/>
          </a:xfrm>
          <a:prstGeom prst="roundRect">
            <a:avLst>
              <a:gd name="adj" fmla="val 4225"/>
            </a:avLst>
          </a:prstGeom>
          <a:solidFill>
            <a:srgbClr val="F1F4F7"/>
          </a:solidFill>
          <a:ln/>
        </p:spPr>
      </p:sp>
      <p:sp>
        <p:nvSpPr>
          <p:cNvPr id="22" name="Shape 16"/>
          <p:cNvSpPr/>
          <p:nvPr/>
        </p:nvSpPr>
        <p:spPr>
          <a:xfrm>
            <a:off x="7594092" y="1618488"/>
            <a:ext cx="749808" cy="749808"/>
          </a:xfrm>
          <a:prstGeom prst="ellipse">
            <a:avLst/>
          </a:prstGeom>
          <a:solidFill>
            <a:srgbClr val="E8A33A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1544" y="1805940"/>
            <a:ext cx="374904" cy="37490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68312" y="246888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Подозрительные ссылки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7123176" y="2852928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ведёт на странный или чужой сайт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548640" y="3931920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0F1B2D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393192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сомневаешься: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открывай, не вводи пароль, спроси у взрослых.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8028432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402336"/>
            <a:ext cx="512064" cy="512064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30352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34747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Безопасность в соцсетях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52728" y="89611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важно помнить, общаясь в интернете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563624" cy="3017520"/>
          </a:xfrm>
          <a:prstGeom prst="roundRect">
            <a:avLst>
              <a:gd name="adj" fmla="val 5263"/>
            </a:avLst>
          </a:prstGeom>
          <a:solidFill>
            <a:srgbClr val="F1F4F7"/>
          </a:solidFill>
          <a:ln/>
        </p:spPr>
      </p:sp>
      <p:sp>
        <p:nvSpPr>
          <p:cNvPr id="7" name="Shape 4"/>
          <p:cNvSpPr/>
          <p:nvPr/>
        </p:nvSpPr>
        <p:spPr>
          <a:xfrm>
            <a:off x="955548" y="1645920"/>
            <a:ext cx="749808" cy="749808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833372"/>
            <a:ext cx="374904" cy="374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5216" y="2496312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 публикуй личное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129284" y="3099816"/>
            <a:ext cx="402336" cy="0"/>
          </a:xfrm>
          <a:prstGeom prst="line">
            <a:avLst/>
          </a:prstGeom>
          <a:noFill/>
          <a:ln w="25400">
            <a:solidFill>
              <a:srgbClr val="0FA3B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3227832"/>
            <a:ext cx="13807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3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адрес, телефон, документы, геолокация</a:t>
            </a:r>
            <a:endParaRPr lang="en-US" sz="930" dirty="0"/>
          </a:p>
        </p:txBody>
      </p:sp>
      <p:sp>
        <p:nvSpPr>
          <p:cNvPr id="12" name="Shape 8"/>
          <p:cNvSpPr/>
          <p:nvPr/>
        </p:nvSpPr>
        <p:spPr>
          <a:xfrm>
            <a:off x="2276856" y="1417320"/>
            <a:ext cx="1563624" cy="3017520"/>
          </a:xfrm>
          <a:prstGeom prst="roundRect">
            <a:avLst>
              <a:gd name="adj" fmla="val 5263"/>
            </a:avLst>
          </a:prstGeom>
          <a:solidFill>
            <a:srgbClr val="F1F4F7"/>
          </a:solidFill>
          <a:ln/>
        </p:spPr>
      </p:sp>
      <p:sp>
        <p:nvSpPr>
          <p:cNvPr id="13" name="Shape 9"/>
          <p:cNvSpPr/>
          <p:nvPr/>
        </p:nvSpPr>
        <p:spPr>
          <a:xfrm>
            <a:off x="2683764" y="1645920"/>
            <a:ext cx="749808" cy="749808"/>
          </a:xfrm>
          <a:prstGeom prst="ellipse">
            <a:avLst/>
          </a:prstGeom>
          <a:solidFill>
            <a:srgbClr val="E8A33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1216" y="1833372"/>
            <a:ext cx="374904" cy="3749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313432" y="2496312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Настрой приватность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2857500" y="3099816"/>
            <a:ext cx="402336" cy="0"/>
          </a:xfrm>
          <a:prstGeom prst="line">
            <a:avLst/>
          </a:prstGeom>
          <a:noFill/>
          <a:ln w="25400">
            <a:solidFill>
              <a:srgbClr val="E8A33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368296" y="3227832"/>
            <a:ext cx="13807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3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выбери, кому видны твои публикации</a:t>
            </a:r>
            <a:endParaRPr lang="en-US" sz="930" dirty="0"/>
          </a:p>
        </p:txBody>
      </p:sp>
      <p:sp>
        <p:nvSpPr>
          <p:cNvPr id="18" name="Shape 13"/>
          <p:cNvSpPr/>
          <p:nvPr/>
        </p:nvSpPr>
        <p:spPr>
          <a:xfrm>
            <a:off x="4005072" y="1417320"/>
            <a:ext cx="1563624" cy="3017520"/>
          </a:xfrm>
          <a:prstGeom prst="roundRect">
            <a:avLst>
              <a:gd name="adj" fmla="val 5263"/>
            </a:avLst>
          </a:prstGeom>
          <a:solidFill>
            <a:srgbClr val="F1F4F7"/>
          </a:solidFill>
          <a:ln/>
        </p:spPr>
      </p:sp>
      <p:sp>
        <p:nvSpPr>
          <p:cNvPr id="19" name="Shape 14"/>
          <p:cNvSpPr/>
          <p:nvPr/>
        </p:nvSpPr>
        <p:spPr>
          <a:xfrm>
            <a:off x="4411980" y="1645920"/>
            <a:ext cx="749808" cy="749808"/>
          </a:xfrm>
          <a:prstGeom prst="ellipse">
            <a:avLst/>
          </a:prstGeom>
          <a:solidFill>
            <a:srgbClr val="DC4F4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1833372"/>
            <a:ext cx="374904" cy="3749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041648" y="2496312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 добавляй незнакомцев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85716" y="3099816"/>
            <a:ext cx="402336" cy="0"/>
          </a:xfrm>
          <a:prstGeom prst="line">
            <a:avLst/>
          </a:prstGeom>
          <a:noFill/>
          <a:ln w="25400">
            <a:solidFill>
              <a:srgbClr val="DC4F4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096512" y="3227832"/>
            <a:ext cx="13807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3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не знаешь человека — будь осторожен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5733288" y="1417320"/>
            <a:ext cx="1563624" cy="3017520"/>
          </a:xfrm>
          <a:prstGeom prst="roundRect">
            <a:avLst>
              <a:gd name="adj" fmla="val 5263"/>
            </a:avLst>
          </a:prstGeom>
          <a:solidFill>
            <a:srgbClr val="F1F4F7"/>
          </a:solidFill>
          <a:ln/>
        </p:spPr>
      </p:sp>
      <p:sp>
        <p:nvSpPr>
          <p:cNvPr id="25" name="Shape 19"/>
          <p:cNvSpPr/>
          <p:nvPr/>
        </p:nvSpPr>
        <p:spPr>
          <a:xfrm>
            <a:off x="6140196" y="1645920"/>
            <a:ext cx="749808" cy="749808"/>
          </a:xfrm>
          <a:prstGeom prst="ellipse">
            <a:avLst/>
          </a:prstGeom>
          <a:solidFill>
            <a:srgbClr val="E8A33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1833372"/>
            <a:ext cx="374904" cy="3749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769864" y="2496312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Береги переписку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313932" y="3099816"/>
            <a:ext cx="402336" cy="0"/>
          </a:xfrm>
          <a:prstGeom prst="line">
            <a:avLst/>
          </a:prstGeom>
          <a:noFill/>
          <a:ln w="25400">
            <a:solidFill>
              <a:srgbClr val="E8A33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824728" y="3227832"/>
            <a:ext cx="13807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3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отправляй фото и пароли тем, кому не доверяешь</a:t>
            </a:r>
            <a:endParaRPr lang="en-US" sz="930" dirty="0"/>
          </a:p>
        </p:txBody>
      </p:sp>
      <p:sp>
        <p:nvSpPr>
          <p:cNvPr id="30" name="Shape 23"/>
          <p:cNvSpPr/>
          <p:nvPr/>
        </p:nvSpPr>
        <p:spPr>
          <a:xfrm>
            <a:off x="7461504" y="1417320"/>
            <a:ext cx="1563624" cy="3017520"/>
          </a:xfrm>
          <a:prstGeom prst="roundRect">
            <a:avLst>
              <a:gd name="adj" fmla="val 5263"/>
            </a:avLst>
          </a:prstGeom>
          <a:solidFill>
            <a:srgbClr val="F1F4F7"/>
          </a:solidFill>
          <a:ln/>
        </p:spPr>
      </p:sp>
      <p:sp>
        <p:nvSpPr>
          <p:cNvPr id="31" name="Shape 24"/>
          <p:cNvSpPr/>
          <p:nvPr/>
        </p:nvSpPr>
        <p:spPr>
          <a:xfrm>
            <a:off x="7868412" y="1645920"/>
            <a:ext cx="749808" cy="749808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5864" y="1833372"/>
            <a:ext cx="374904" cy="37490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498080" y="2496312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Сеть помнит всё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8042148" y="3099816"/>
            <a:ext cx="402336" cy="0"/>
          </a:xfrm>
          <a:prstGeom prst="line">
            <a:avLst/>
          </a:prstGeom>
          <a:noFill/>
          <a:ln w="25400">
            <a:solidFill>
              <a:srgbClr val="0FA3B7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552944" y="3227832"/>
            <a:ext cx="13807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3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удалённое может остаться у других людей</a:t>
            </a:r>
            <a:endParaRPr lang="en-US" sz="930" dirty="0"/>
          </a:p>
        </p:txBody>
      </p:sp>
      <p:sp>
        <p:nvSpPr>
          <p:cNvPr id="36" name="Text 28"/>
          <p:cNvSpPr/>
          <p:nvPr/>
        </p:nvSpPr>
        <p:spPr>
          <a:xfrm>
            <a:off x="8028432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402336"/>
            <a:ext cx="512064" cy="512064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30352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34747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делать, если данные украдены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52728" y="89611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план действий — порядок имеет значение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1554480" y="1938528"/>
            <a:ext cx="6035040" cy="0"/>
          </a:xfrm>
          <a:prstGeom prst="line">
            <a:avLst/>
          </a:prstGeom>
          <a:noFill/>
          <a:ln w="31750">
            <a:solidFill>
              <a:srgbClr val="CFD9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15568" y="1499616"/>
            <a:ext cx="877824" cy="877824"/>
          </a:xfrm>
          <a:prstGeom prst="ellipse">
            <a:avLst/>
          </a:prstGeom>
          <a:solidFill>
            <a:srgbClr val="0FA3B7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6642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94360" y="2606040"/>
            <a:ext cx="1920240" cy="1783080"/>
          </a:xfrm>
          <a:prstGeom prst="roundRect">
            <a:avLst>
              <a:gd name="adj" fmla="val 4615"/>
            </a:avLst>
          </a:prstGeom>
          <a:solidFill>
            <a:srgbClr val="F1F4F7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" y="2606040"/>
            <a:ext cx="1920240" cy="91440"/>
          </a:xfrm>
          <a:prstGeom prst="rect">
            <a:avLst/>
          </a:prstGeom>
          <a:solidFill>
            <a:srgbClr val="0FA3B7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Срочно смени пароли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3232" y="3291840"/>
            <a:ext cx="16824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всех важных аккаунтах сразу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27248" y="1499616"/>
            <a:ext cx="877824" cy="877824"/>
          </a:xfrm>
          <a:prstGeom prst="ellipse">
            <a:avLst/>
          </a:prstGeom>
          <a:solidFill>
            <a:srgbClr val="E8A33A"/>
          </a:solidFill>
          <a:ln/>
        </p:spPr>
      </p:sp>
      <p:sp>
        <p:nvSpPr>
          <p:cNvPr id="14" name="Text 11"/>
          <p:cNvSpPr/>
          <p:nvPr/>
        </p:nvSpPr>
        <p:spPr>
          <a:xfrm>
            <a:off x="3108960" y="16642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2606040" y="2606040"/>
            <a:ext cx="1920240" cy="1783080"/>
          </a:xfrm>
          <a:prstGeom prst="roundRect">
            <a:avLst>
              <a:gd name="adj" fmla="val 4615"/>
            </a:avLst>
          </a:prstGeom>
          <a:solidFill>
            <a:srgbClr val="F1F4F7"/>
          </a:solidFill>
          <a:ln/>
        </p:spPr>
      </p:sp>
      <p:sp>
        <p:nvSpPr>
          <p:cNvPr id="16" name="Shape 13"/>
          <p:cNvSpPr/>
          <p:nvPr/>
        </p:nvSpPr>
        <p:spPr>
          <a:xfrm>
            <a:off x="2606040" y="2606040"/>
            <a:ext cx="1920240" cy="91440"/>
          </a:xfrm>
          <a:prstGeom prst="rect">
            <a:avLst/>
          </a:prstGeom>
          <a:solidFill>
            <a:srgbClr val="E8A33A"/>
          </a:solidFill>
          <a:ln/>
        </p:spPr>
      </p:sp>
      <p:sp>
        <p:nvSpPr>
          <p:cNvPr id="17" name="Text 14"/>
          <p:cNvSpPr/>
          <p:nvPr/>
        </p:nvSpPr>
        <p:spPr>
          <a:xfrm>
            <a:off x="269748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Включи 2FA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24912" y="3291840"/>
            <a:ext cx="16824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двухфакторную аутентификацию для защиты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138928" y="1499616"/>
            <a:ext cx="877824" cy="877824"/>
          </a:xfrm>
          <a:prstGeom prst="ellipse">
            <a:avLst/>
          </a:prstGeom>
          <a:solidFill>
            <a:srgbClr val="DC4F4F"/>
          </a:solidFill>
          <a:ln/>
        </p:spPr>
      </p:sp>
      <p:sp>
        <p:nvSpPr>
          <p:cNvPr id="20" name="Text 17"/>
          <p:cNvSpPr/>
          <p:nvPr/>
        </p:nvSpPr>
        <p:spPr>
          <a:xfrm>
            <a:off x="5120640" y="16642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4617720" y="2606040"/>
            <a:ext cx="1920240" cy="1783080"/>
          </a:xfrm>
          <a:prstGeom prst="roundRect">
            <a:avLst>
              <a:gd name="adj" fmla="val 4615"/>
            </a:avLst>
          </a:prstGeom>
          <a:solidFill>
            <a:srgbClr val="F1F4F7"/>
          </a:solidFill>
          <a:ln/>
        </p:spPr>
      </p:sp>
      <p:sp>
        <p:nvSpPr>
          <p:cNvPr id="22" name="Shape 19"/>
          <p:cNvSpPr/>
          <p:nvPr/>
        </p:nvSpPr>
        <p:spPr>
          <a:xfrm>
            <a:off x="4617720" y="2606040"/>
            <a:ext cx="1920240" cy="91440"/>
          </a:xfrm>
          <a:prstGeom prst="rect">
            <a:avLst/>
          </a:prstGeom>
          <a:solidFill>
            <a:srgbClr val="DC4F4F"/>
          </a:solidFill>
          <a:ln/>
        </p:spPr>
      </p:sp>
      <p:sp>
        <p:nvSpPr>
          <p:cNvPr id="23" name="Text 20"/>
          <p:cNvSpPr/>
          <p:nvPr/>
        </p:nvSpPr>
        <p:spPr>
          <a:xfrm>
            <a:off x="470916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Сообщи в банк/сервис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36592" y="3291840"/>
            <a:ext cx="16824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затронуты деньги или важный аккаунт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150608" y="1499616"/>
            <a:ext cx="877824" cy="877824"/>
          </a:xfrm>
          <a:prstGeom prst="ellipse">
            <a:avLst/>
          </a:prstGeom>
          <a:solidFill>
            <a:srgbClr val="0FA3B7"/>
          </a:solidFill>
          <a:ln/>
        </p:spPr>
      </p:sp>
      <p:sp>
        <p:nvSpPr>
          <p:cNvPr id="26" name="Text 23"/>
          <p:cNvSpPr/>
          <p:nvPr/>
        </p:nvSpPr>
        <p:spPr>
          <a:xfrm>
            <a:off x="7132320" y="16642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6629400" y="2606040"/>
            <a:ext cx="1920240" cy="1783080"/>
          </a:xfrm>
          <a:prstGeom prst="roundRect">
            <a:avLst>
              <a:gd name="adj" fmla="val 4615"/>
            </a:avLst>
          </a:prstGeom>
          <a:solidFill>
            <a:srgbClr val="F1F4F7"/>
          </a:solidFill>
          <a:ln/>
        </p:spPr>
      </p:sp>
      <p:sp>
        <p:nvSpPr>
          <p:cNvPr id="28" name="Shape 25"/>
          <p:cNvSpPr/>
          <p:nvPr/>
        </p:nvSpPr>
        <p:spPr>
          <a:xfrm>
            <a:off x="6629400" y="2606040"/>
            <a:ext cx="1920240" cy="91440"/>
          </a:xfrm>
          <a:prstGeom prst="rect">
            <a:avLst/>
          </a:prstGeom>
          <a:solidFill>
            <a:srgbClr val="0FA3B7"/>
          </a:solidFill>
          <a:ln/>
        </p:spPr>
      </p:sp>
      <p:sp>
        <p:nvSpPr>
          <p:cNvPr id="29" name="Text 26"/>
          <p:cNvSpPr/>
          <p:nvPr/>
        </p:nvSpPr>
        <p:spPr>
          <a:xfrm>
            <a:off x="672084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Проверь устройства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748272" y="3291840"/>
            <a:ext cx="16824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 антивирус, удали подозрительные программы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028432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286000"/>
            <a:ext cx="4389120" cy="4389120"/>
          </a:xfrm>
          <a:prstGeom prst="ellipse">
            <a:avLst/>
          </a:prstGeom>
          <a:solidFill>
            <a:srgbClr val="1D2C44"/>
          </a:solidFill>
          <a:ln/>
        </p:spPr>
      </p:sp>
      <p:sp>
        <p:nvSpPr>
          <p:cNvPr id="3" name="Shape 1"/>
          <p:cNvSpPr/>
          <p:nvPr/>
        </p:nvSpPr>
        <p:spPr>
          <a:xfrm>
            <a:off x="7406640" y="2926080"/>
            <a:ext cx="4297680" cy="4297680"/>
          </a:xfrm>
          <a:prstGeom prst="ellipse">
            <a:avLst/>
          </a:prstGeom>
          <a:solidFill>
            <a:srgbClr val="1D2C4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5669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7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49808" y="89611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Безопасность — в твоих руках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49808" y="1874520"/>
            <a:ext cx="7644384" cy="768096"/>
          </a:xfrm>
          <a:prstGeom prst="roundRect">
            <a:avLst>
              <a:gd name="adj" fmla="val 9524"/>
            </a:avLst>
          </a:prstGeom>
          <a:solidFill>
            <a:srgbClr val="172538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984248"/>
            <a:ext cx="548640" cy="548640"/>
          </a:xfrm>
          <a:prstGeom prst="ellipse">
            <a:avLst/>
          </a:prstGeom>
          <a:solidFill>
            <a:srgbClr val="0FA3B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1214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874520"/>
            <a:ext cx="6400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Кибербезопасность важна для каждого, кто пользуется интернетом.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49808" y="2770632"/>
            <a:ext cx="7644384" cy="768096"/>
          </a:xfrm>
          <a:prstGeom prst="roundRect">
            <a:avLst>
              <a:gd name="adj" fmla="val 9524"/>
            </a:avLst>
          </a:prstGeom>
          <a:solidFill>
            <a:srgbClr val="172538"/>
          </a:solidFill>
          <a:ln/>
        </p:spPr>
      </p:sp>
      <p:sp>
        <p:nvSpPr>
          <p:cNvPr id="11" name="Shape 8"/>
          <p:cNvSpPr/>
          <p:nvPr/>
        </p:nvSpPr>
        <p:spPr>
          <a:xfrm>
            <a:off x="969264" y="2880360"/>
            <a:ext cx="548640" cy="548640"/>
          </a:xfrm>
          <a:prstGeom prst="ellipse">
            <a:avLst/>
          </a:prstGeom>
          <a:solidFill>
            <a:srgbClr val="E8A33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30175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2770632"/>
            <a:ext cx="6400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Простые правила защищают от большинства угроз в сети.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49808" y="3666744"/>
            <a:ext cx="7644384" cy="768096"/>
          </a:xfrm>
          <a:prstGeom prst="roundRect">
            <a:avLst>
              <a:gd name="adj" fmla="val 9524"/>
            </a:avLst>
          </a:prstGeom>
          <a:solidFill>
            <a:srgbClr val="172538"/>
          </a:solidFill>
          <a:ln/>
        </p:spPr>
      </p:sp>
      <p:sp>
        <p:nvSpPr>
          <p:cNvPr id="15" name="Shape 11"/>
          <p:cNvSpPr/>
          <p:nvPr/>
        </p:nvSpPr>
        <p:spPr>
          <a:xfrm>
            <a:off x="969264" y="3776472"/>
            <a:ext cx="548640" cy="548640"/>
          </a:xfrm>
          <a:prstGeom prst="ellipse">
            <a:avLst/>
          </a:prstGeom>
          <a:solidFill>
            <a:srgbClr val="DC4F4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391363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666744"/>
            <a:ext cx="6400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Будь внимателен — и не верь подозрительным сообщениям.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49808" y="45902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47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Защити себя в сети — это твоя цифровая ответственность.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638</Words>
  <Application>Microsoft Office PowerPoint</Application>
  <PresentationFormat>Экран (16:9)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presentation-creation.ru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Кибербезопасность, презентация с сайта presentation-creation.ru</dc:title>
  <dc:subject>presentation-creation.ru</dc:subject>
  <dc:creator>presentation-creation.ru</dc:creator>
  <cp:lastModifiedBy>User Obstinate</cp:lastModifiedBy>
  <cp:revision>4</cp:revision>
  <dcterms:created xsi:type="dcterms:W3CDTF">2026-05-20T15:45:47Z</dcterms:created>
  <dcterms:modified xsi:type="dcterms:W3CDTF">2026-05-24T12:04:10Z</dcterms:modified>
</cp:coreProperties>
</file>