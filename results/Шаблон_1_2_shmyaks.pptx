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3"/>
    <p:sldMasterId id="2147483688" r:id="rId4"/>
  </p:sldMasterIdLst>
  <p:notesMasterIdLst>
    <p:notesMasterId r:id="rId5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y="5143500" cx="9144000"/>
  <p:notesSz cx="6858000" cy="9144000"/>
  <p:embeddedFontLst>
    <p:embeddedFont>
      <p:font typeface="Play"/>
      <p:regular r:id="rId60"/>
      <p:bold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60" Type="http://schemas.openxmlformats.org/officeDocument/2006/relationships/font" Target="fonts/Play-regular.fntdata"/><Relationship Id="rId61" Type="http://schemas.openxmlformats.org/officeDocument/2006/relationships/font" Target="fonts/Play-bold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Время, ч</c:v>
                </c:pt>
              </c:strCache>
            </c:strRef>
          </c:tx>
          <c:spPr>
            <a:solidFill>
              <a:srgbClr val="0077FF"/>
            </a:solidFill>
            <a:ln>
              <a:solidFill>
                <a:srgbClr val="0077FF"/>
              </a:solidFill>
            </a:ln>
          </c:spPr>
          <c:cat>
            <c:strRef>
              <c:f>Sheet1!$A$2:$A$3</c:f>
              <c:strCache>
                <c:ptCount val="2"/>
                <c:pt idx="0">
                  <c:v>Создание презентации вручную</c:v>
                </c:pt>
                <c:pt idx="1">
                  <c:v>Создание презентации с сервисом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3.0</c:v>
                </c:pt>
                <c:pt idx="1">
                  <c:v>0.33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FEFFFF"/>
            </a:solidFill>
          </a:ln>
        </c:spPr>
        <c:txPr>
          <a:bodyPr/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FEFFFF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FEFFFF"/>
            </a:solidFill>
          </a:ln>
        </c:spPr>
        <c:txPr>
          <a:bodyPr/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4" name="Google Shape;14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" name="Google Shape;15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9" name="Google Shape;19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" name="Google Shape;20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" name="Google Shape;2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" name="Google Shape;24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" name="Google Shape;25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" name="Google Shape;27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" name="Google Shape;28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" name="Google Shape;29;p3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3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33" name="Google Shape;33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" name="Google Shape;34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36" name="Google Shape;36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" name="Google Shape;37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9" name="Google Shape;3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0" name="Google Shape;40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1" name="Google Shape;4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2" name="Google Shape;42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3" name="Google Shape;43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45" name="Google Shape;45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46" name="Google Shape;46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" name="Google Shape;47;p4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4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50" name="Google Shape;50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" name="Google Shape;51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52" name="Google Shape;52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3" name="Google Shape;53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Разделитель">
  <p:cSld name="1_Разделитель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57" name="Google Shape;57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58" name="Google Shape;58;p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9" name="Google Shape;59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1" name="Google Shape;61;p6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62" name="Google Shape;62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63" name="Google Shape;63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64" name="Google Shape;64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65" name="Google Shape;65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лайд &quot;Спасибо!&quot;">
  <p:cSld name="4_Слайд &quot;Спасибо!&quot;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69" name="Google Shape;6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0" name="Google Shape;7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" name="Google Shape;71;p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2" name="Google Shape;72;p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73" name="Google Shape;73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74" name="Google Shape;7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5" name="Google Shape;75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одержание">
  <p:cSld name="1_Содержание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78" name="Google Shape;78;p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79" name="Google Shape;79;p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80" name="Google Shape;80;p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81" name="Google Shape;81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" name="Google Shape;82;p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одержание">
  <p:cSld name="2_Содержание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90" name="Google Shape;90;p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91" name="Google Shape;91;p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92" name="Google Shape;92;p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93" name="Google Shape;93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одержание">
  <p:cSld name="3_Содержание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02" name="Google Shape;102;p1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03" name="Google Shape;103;p1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04" name="Google Shape;104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05" name="Google Shape;105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p1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Визитка">
  <p:cSld name="1_Визитка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" name="Google Shape;111;p1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12" name="Google Shape;112;p1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13" name="Google Shape;113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14" name="Google Shape;114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" name="Google Shape;115;p1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1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Google Shape;119;p1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Визитка">
  <p:cSld name="4_Визитка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1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23" name="Google Shape;123;p1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24" name="Google Shape;124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25" name="Google Shape;12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1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1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1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вободный дизайн">
  <p:cSld name="1_Свободный дизайн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3" name="Google Shape;133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34" name="Google Shape;134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35" name="Google Shape;13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p1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7" name="Google Shape;137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9" name="Google Shape;139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0" name="Google Shape;140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1" name="Google Shape;141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Контент">
  <p:cSld name="1_Контент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45" name="Google Shape;145;p1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46" name="Google Shape;146;p1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7" name="Google Shape;147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8" name="Google Shape;148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Контент">
  <p:cSld name="3_Контент"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2" name="Google Shape;152;p1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53" name="Google Shape;153;p1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54" name="Google Shape;154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5" name="Google Shape;155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Контент">
  <p:cSld name="5_Контент"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9" name="Google Shape;159;p1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0" name="Google Shape;160;p1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1" name="Google Shape;161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2" name="Google Shape;162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Контент">
  <p:cSld name="7_Контент"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66" name="Google Shape;166;p1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7" name="Google Shape;167;p1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8" name="Google Shape;168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9" name="Google Shape;169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Контент">
  <p:cSld name="8_Контент"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73" name="Google Shape;173;p1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74" name="Google Shape;174;p1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75" name="Google Shape;175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76" name="Google Shape;176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Контент">
  <p:cSld name="13_Контент"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1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0" name="Google Shape;180;p1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1" name="Google Shape;181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2" name="Google Shape;182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1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2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6" name="Google Shape;186;p2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7" name="Google Shape;187;p2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8" name="Google Shape;188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вободный дизайн">
  <p:cSld name="2_Свободный дизайн">
    <p:bg>
      <p:bgPr>
        <a:solidFill>
          <a:schemeClr val="dk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1" name="Google Shape;191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2" name="Google Shape;192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3" name="Google Shape;193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94" name="Google Shape;194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5" name="Google Shape;195;p21"/>
          <p:cNvSpPr txBox="1"/>
          <p:nvPr>
            <p:ph type="title"/>
          </p:nvPr>
        </p:nvSpPr>
        <p:spPr>
          <a:xfrm>
            <a:off x="177970" y="175372"/>
            <a:ext cx="6792985" cy="907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6" name="Google Shape;196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7" name="Google Shape;197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8" name="Google Shape;198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9" name="Google Shape;199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0" name="Google Shape;200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Разделитель">
  <p:cSld name="2_Разделитель">
    <p:bg>
      <p:bgPr>
        <a:solidFill>
          <a:schemeClr val="dk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3" name="Google Shape;203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04" name="Google Shape;204;p2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5" name="Google Shape;205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p22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7" name="Google Shape;207;p22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08" name="Google Shape;208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9" name="Google Shape;209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10" name="Google Shape;210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1" name="Google Shape;211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13" name="Google Shape;21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4" name="Google Shape;21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16" name="Google Shape;216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7" name="Google Shape;217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" name="Google Shape;218;p23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9" name="Google Shape;219;p23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20" name="Google Shape;220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21" name="Google Shape;221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22" name="Google Shape;222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4" name="Google Shape;224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" name="Google Shape;22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6" name="Google Shape;226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7" name="Google Shape;227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" name="Google Shape;228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29" name="Google Shape;229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0" name="Google Shape;230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1" name="Google Shape;231;p24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2" name="Google Shape;232;p24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35" name="Google Shape;235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6" name="Google Shape;236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38" name="Google Shape;238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9" name="Google Shape;239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41" name="Google Shape;24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2" name="Google Shape;242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3" name="Google Shape;243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4" name="Google Shape;244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5" name="Google Shape;245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47" name="Google Shape;247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48" name="Google Shape;248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25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0" name="Google Shape;250;p25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1" name="Google Shape;251;p25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52" name="Google Shape;252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54" name="Google Shape;254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55" name="Google Shape;255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лайд &quot;Спасибо!&quot;">
  <p:cSld name="2_Слайд &quot;Спасибо!&quot;">
    <p:bg>
      <p:bgPr>
        <a:solidFill>
          <a:schemeClr val="dk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57" name="Google Shape;257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0" name="Google Shape;260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1" name="Google Shape;261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" name="Google Shape;262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63" name="Google Shape;263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64" name="Google Shape;264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5" name="Google Shape;265;p26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6" name="Google Shape;266;p26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7" name="Google Shape;267;p26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68" name="Google Shape;268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" name="Google Shape;269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0" name="Google Shape;270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1" name="Google Shape;271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лайд &quot;Спасибо!&quot;">
  <p:cSld name="3_Слайд &quot;Спасибо!&quot;">
    <p:bg>
      <p:bgPr>
        <a:solidFill>
          <a:schemeClr val="dk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4" name="Google Shape;274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5" name="Google Shape;275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6" name="Google Shape;276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7" name="Google Shape;277;p2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8" name="Google Shape;278;p2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1" name="Google Shape;281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Содержание">
  <p:cSld name="5_Содержание">
    <p:bg>
      <p:bgPr>
        <a:solidFill>
          <a:schemeClr val="dk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84" name="Google Shape;284;p2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85" name="Google Shape;285;p2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86" name="Google Shape;286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7" name="Google Shape;287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8" name="Google Shape;288;p2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9" name="Google Shape;289;p2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0" name="Google Shape;290;p2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1" name="Google Shape;291;p2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2" name="Google Shape;292;p2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Содержание">
  <p:cSld name="6_Содержание">
    <p:bg>
      <p:bgPr>
        <a:solidFill>
          <a:schemeClr val="dk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96" name="Google Shape;296;p2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97" name="Google Shape;297;p2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98" name="Google Shape;298;p2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99" name="Google Shape;299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0" name="Google Shape;300;p2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1" name="Google Shape;301;p2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2" name="Google Shape;302;p2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3" name="Google Shape;303;p2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4" name="Google Shape;304;p2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одержание">
  <p:cSld name="4_Содержание">
    <p:bg>
      <p:bgPr>
        <a:solidFill>
          <a:schemeClr val="dk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08" name="Google Shape;308;p3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09" name="Google Shape;309;p3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0" name="Google Shape;310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11" name="Google Shape;311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2" name="Google Shape;312;p3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4" name="Google Shape;314;p3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Визитка">
  <p:cSld name="3_Визитка">
    <p:bg>
      <p:bgPr>
        <a:solidFill>
          <a:schemeClr val="dk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3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18" name="Google Shape;318;p3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9" name="Google Shape;319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20" name="Google Shape;320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1" name="Google Shape;321;p3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3" name="Google Shape;323;p3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4" name="Google Shape;324;p3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5" name="Google Shape;325;p3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Визитка">
  <p:cSld name="2_Визитка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3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29" name="Google Shape;329;p3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30" name="Google Shape;330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31" name="Google Shape;331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2" name="Google Shape;332;p3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4" name="Google Shape;334;p3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5" name="Google Shape;335;p3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Контент">
  <p:cSld name="2_Контент">
    <p:bg>
      <p:bgPr>
        <a:solidFill>
          <a:schemeClr val="dk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3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39" name="Google Shape;339;p3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0" name="Google Shape;340;p3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1" name="Google Shape;341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2" name="Google Shape;342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Контент">
  <p:cSld name="4_Контент">
    <p:bg>
      <p:bgPr>
        <a:solidFill>
          <a:schemeClr val="dk1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46" name="Google Shape;346;p3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7" name="Google Shape;347;p3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8" name="Google Shape;348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9" name="Google Shape;349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Контент">
  <p:cSld name="6_Контент">
    <p:bg>
      <p:bgPr>
        <a:solidFill>
          <a:schemeClr val="dk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53" name="Google Shape;353;p3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54" name="Google Shape;354;p3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55" name="Google Shape;355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56" name="Google Shape;356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Контент">
  <p:cSld name="12_Контент">
    <p:bg>
      <p:bgPr>
        <a:solidFill>
          <a:schemeClr val="dk1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0" name="Google Shape;360;p3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1" name="Google Shape;361;p3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2" name="Google Shape;362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63" name="Google Shape;363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Контент">
  <p:cSld name="9_Контент">
    <p:bg>
      <p:bgPr>
        <a:solidFill>
          <a:schemeClr val="dk1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7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7" name="Google Shape;367;p3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8" name="Google Shape;368;p3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9" name="Google Shape;369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0" name="Google Shape;370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Контент">
  <p:cSld name="10_Контент">
    <p:bg>
      <p:bgPr>
        <a:solidFill>
          <a:schemeClr val="dk1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3" name="Google Shape;373;p3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74" name="Google Shape;374;p3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75" name="Google Shape;375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6" name="Google Shape;376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7" name="Google Shape;377;p38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Контент">
  <p:cSld name="11_Контент">
    <p:bg>
      <p:bgPr>
        <a:solidFill>
          <a:schemeClr val="lt1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0" name="Google Shape;380;p3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1" name="Google Shape;381;p3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2" name="Google Shape;382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83" name="Google Shape;383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4" name="Google Shape;384;p3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Контент">
  <p:cSld name="14_Контент">
    <p:bg>
      <p:bgPr>
        <a:solidFill>
          <a:schemeClr val="dk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4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8" name="Google Shape;388;p4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9" name="Google Shape;389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0" name="Google Shape;390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1" name="Google Shape;391;p40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EFAULT">
  <p:cSld name="1_DEFAULT">
    <p:bg>
      <p:bgPr>
        <a:solidFill>
          <a:schemeClr val="dk1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393;p4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94" name="Google Shape;394;p4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95" name="Google Shape;395;p4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6" name="Google Shape;396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22.xml"/><Relationship Id="rId20" Type="http://schemas.openxmlformats.org/officeDocument/2006/relationships/slideLayout" Target="../slideLayouts/slideLayout23.xml"/><Relationship Id="rId21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26.xml"/><Relationship Id="rId24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29.xml"/><Relationship Id="rId27" Type="http://schemas.openxmlformats.org/officeDocument/2006/relationships/slideLayout" Target="../slideLayouts/slideLayout30.xml"/><Relationship Id="rId28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32.xml"/><Relationship Id="rId30" Type="http://schemas.openxmlformats.org/officeDocument/2006/relationships/slideLayout" Target="../slideLayouts/slideLayout33.xml"/><Relationship Id="rId31" Type="http://schemas.openxmlformats.org/officeDocument/2006/relationships/slideLayout" Target="../slideLayouts/slideLayout34.xml"/><Relationship Id="rId32" Type="http://schemas.openxmlformats.org/officeDocument/2006/relationships/slideLayout" Target="../slideLayouts/slideLayout35.xml"/><Relationship Id="rId33" Type="http://schemas.openxmlformats.org/officeDocument/2006/relationships/slideLayout" Target="../slideLayouts/slideLayout36.xml"/><Relationship Id="rId34" Type="http://schemas.openxmlformats.org/officeDocument/2006/relationships/slideLayout" Target="../slideLayouts/slideLayout37.xml"/><Relationship Id="rId35" Type="http://schemas.openxmlformats.org/officeDocument/2006/relationships/slideLayout" Target="../slideLayouts/slideLayout38.xml"/><Relationship Id="rId36" Type="http://schemas.openxmlformats.org/officeDocument/2006/relationships/slideLayout" Target="../slideLayouts/slideLayout39.xml"/><Relationship Id="rId3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FAFCFF"/>
                </a:solidFill>
                <a:latin typeface="Arial"/>
              </a:rPr>
              <a:t>AI-сервис автоматической генерации корпоративных презентаций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3770" y="2199720"/>
            <a:ext cx="4288279" cy="1277619"/>
          </a:xfrm>
        </p:spPr>
        <p:txBody>
          <a:bodyPr anchor="ctr"/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00" b="1">
                <a:solidFill>
                  <a:srgbClr val="FAFCFF"/>
                </a:solidFill>
                <a:latin typeface="Arial"/>
              </a:rPr>
              <a:t>Автоматически создаёт презентации по шаблону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FAFCFF"/>
                </a:solidFill>
                <a:latin typeface="Arial"/>
              </a:rPr>
              <a:t>Сокращает время создания в 8–10 раз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77971" y="1880499"/>
            <a:ext cx="3862387" cy="2661919"/>
          </a:xfrm>
        </p:spPr>
        <p:txBody>
          <a:bodyPr anchor="ctr"/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Сотрудник должен найти подходящий шаблон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Сформировать структуру и перенести текст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Подобрать тип каждого слайда и сверстать презентацию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Проверить фирменный стиль и исправить переполнения и ошибки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000000"/>
                </a:solidFill>
                <a:latin typeface="Arial"/>
              </a:rPr>
              <a:t>Проблема ручной работы при создании презентаций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77971" y="1880499"/>
            <a:ext cx="3862387" cy="2278380"/>
          </a:xfrm>
        </p:spPr>
        <p:txBody>
          <a:bodyPr anchor="ctr"/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00" b="1">
                <a:solidFill>
                  <a:srgbClr val="FAFCFF"/>
                </a:solidFill>
                <a:latin typeface="Arial"/>
              </a:rPr>
              <a:t>Пользователь загружает текст, документ или тезисы.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FAFCFF"/>
                </a:solidFill>
                <a:latin typeface="Arial"/>
              </a:rPr>
              <a:t>Система автоматически формирует структуру презентации и выбирает шаблоны.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FAFCFF"/>
                </a:solidFill>
                <a:latin typeface="Arial"/>
              </a:rPr>
              <a:t>Готовая корпоративная презентация готова за несколько минут.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FAFCFF"/>
                </a:solidFill>
                <a:latin typeface="Arial"/>
              </a:rPr>
              <a:t>Наши решения для автоматизации процесса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000000"/>
                </a:solidFill>
                <a:latin typeface="Arial"/>
              </a:rPr>
              <a:t>Как работает сервис: 5 шагов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00112"/>
            <a:ext cx="2643200" cy="1799518"/>
          </a:xfrm>
          <a:prstGeom prst="roundRect">
            <a:avLst/>
          </a:prstGeom>
          <a:solidFill>
            <a:srgbClr val="FAFCFF"/>
          </a:solidFill>
          <a:ln>
            <a:solidFill>
              <a:srgbClr val="00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00112"/>
            <a:ext cx="58000" cy="1799518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7200" y="1020112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AFC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200" y="1005112"/>
            <a:ext cx="19332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Анализ входных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7200" y="1480112"/>
            <a:ext cx="2373200" cy="1129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Arial"/>
              </a:rPr>
              <a:t>LLM определяет цель презентации, основные мысли, целевую аудиторию и логическую последовательность материала.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50400" y="900112"/>
            <a:ext cx="2643200" cy="1799518"/>
          </a:xfrm>
          <a:prstGeom prst="roundRect">
            <a:avLst/>
          </a:prstGeom>
          <a:solidFill>
            <a:srgbClr val="FAFCFF"/>
          </a:solidFill>
          <a:ln>
            <a:solidFill>
              <a:srgbClr val="00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50400" y="900112"/>
            <a:ext cx="58000" cy="1799518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00400" y="1020112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AFC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70400" y="1005112"/>
            <a:ext cx="19332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Построение структуры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0400" y="1480112"/>
            <a:ext cx="2373200" cy="1129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Arial"/>
              </a:rPr>
              <a:t>Формируется сценарий презентации: Problem → Insight → Solution → Evidence → Result.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43600" y="900112"/>
            <a:ext cx="2643200" cy="1799518"/>
          </a:xfrm>
          <a:prstGeom prst="roundRect">
            <a:avLst/>
          </a:prstGeom>
          <a:solidFill>
            <a:srgbClr val="FAFCFF"/>
          </a:solidFill>
          <a:ln>
            <a:solidFill>
              <a:srgbClr val="00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43600" y="900112"/>
            <a:ext cx="58000" cy="1799518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93600" y="1020112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AFC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3600" y="1005112"/>
            <a:ext cx="19332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</a:rPr>
              <a:t>Генерация JSON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3600" y="1480112"/>
            <a:ext cx="2373200" cy="1129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Arial"/>
              </a:rPr>
              <a:t>Каждый слайд описывается в структурированном формате.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829630"/>
            <a:ext cx="2643200" cy="1799518"/>
          </a:xfrm>
          <a:prstGeom prst="roundRect">
            <a:avLst/>
          </a:prstGeom>
          <a:solidFill>
            <a:srgbClr val="FAFCFF"/>
          </a:solidFill>
          <a:ln>
            <a:solidFill>
              <a:srgbClr val="00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829630"/>
            <a:ext cx="58000" cy="1799518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7200" y="2949630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AFC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7200" y="2934630"/>
            <a:ext cx="19332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</a:rPr>
              <a:t>Template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7200" y="3409630"/>
            <a:ext cx="2373200" cy="1129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Arial"/>
              </a:rPr>
              <a:t>Алгоритм определяет тип слайда, выбирает шаблон и размещает контент.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50400" y="2829630"/>
            <a:ext cx="2643200" cy="1799518"/>
          </a:xfrm>
          <a:prstGeom prst="roundRect">
            <a:avLst/>
          </a:prstGeom>
          <a:solidFill>
            <a:srgbClr val="FAFCFF"/>
          </a:solidFill>
          <a:ln>
            <a:solidFill>
              <a:srgbClr val="00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50400" y="2829630"/>
            <a:ext cx="58000" cy="1799518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400400" y="2949630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AFCFF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70400" y="2934630"/>
            <a:ext cx="19332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</a:rPr>
              <a:t>Quality Check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00400" y="3409630"/>
            <a:ext cx="2373200" cy="1129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Arial"/>
              </a:rPr>
              <a:t>Перед выгрузкой проверяются переполнение текста, отсутствующие элементы и соответствие шаблону.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000000"/>
                </a:solidFill>
                <a:latin typeface="Arial"/>
              </a:rPr>
              <a:t>Архитектура сервиса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anchor="ctr"/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AI-слой отвечает за анализ и генерацию структурированного JSON.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Кодовый слой отвечает за детерминированное формирование презентации.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57287"/>
            <a:ext cx="4024800" cy="3471862"/>
          </a:xfrm>
          <a:prstGeom prst="roundRect">
            <a:avLst/>
          </a:prstGeom>
          <a:solidFill>
            <a:srgbClr val="EEEF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57287"/>
            <a:ext cx="4024800" cy="65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00000"/>
                </a:solidFill>
                <a:latin typeface="Arial"/>
              </a:rPr>
              <a:t>AI-слой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7200" y="1877287"/>
            <a:ext cx="3844800" cy="26818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Определяет цель презентации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Формирует логическую последовательность материала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Генерирует структурированный JSON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2000" y="1157287"/>
            <a:ext cx="4024800" cy="3471862"/>
          </a:xfrm>
          <a:prstGeom prst="roundRect">
            <a:avLst/>
          </a:prstGeom>
          <a:solidFill>
            <a:srgbClr val="EEEFF0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62000" y="1157287"/>
            <a:ext cx="4024800" cy="65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00000"/>
                </a:solidFill>
                <a:latin typeface="Arial"/>
              </a:rPr>
              <a:t>Кодовый слой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2000" y="1877287"/>
            <a:ext cx="3844800" cy="26818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Выбирает корпоративные шаблоны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Собирает слайды в соответствии с JSON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Проверяет и корректирует результат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FAFCFF"/>
                </a:solidFill>
                <a:latin typeface="Arial"/>
              </a:rPr>
              <a:t>Почему JSON + шаблоны?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00112"/>
            <a:ext cx="4024800" cy="3729037"/>
          </a:xfrm>
          <a:prstGeom prst="roundRect">
            <a:avLst/>
          </a:prstGeom>
          <a:solidFill>
            <a:srgbClr val="2C303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900112"/>
            <a:ext cx="4024800" cy="65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00000"/>
                </a:solidFill>
                <a:latin typeface="Arial"/>
              </a:rPr>
              <a:t>Генеративный подход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7200" y="1620112"/>
            <a:ext cx="3844800" cy="29390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FAFCFF"/>
                </a:solidFill>
                <a:latin typeface="Arial"/>
              </a:rPr>
              <a:t>Содержание и структура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AFCFF"/>
                </a:solidFill>
                <a:latin typeface="Arial"/>
              </a:rPr>
              <a:t>Формулировки и ключевые мысли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2000" y="900112"/>
            <a:ext cx="4024800" cy="3729037"/>
          </a:xfrm>
          <a:prstGeom prst="roundRect">
            <a:avLst/>
          </a:prstGeom>
          <a:solidFill>
            <a:srgbClr val="2C3035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662000" y="900112"/>
            <a:ext cx="4024800" cy="65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00000"/>
                </a:solidFill>
                <a:latin typeface="Arial"/>
              </a:rPr>
              <a:t>Детерминированный подход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2000" y="1620112"/>
            <a:ext cx="3844800" cy="29390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FAFCFF"/>
                </a:solidFill>
                <a:latin typeface="Arial"/>
              </a:rPr>
              <a:t>Оформление и дизайн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AFCFF"/>
                </a:solidFill>
                <a:latin typeface="Arial"/>
              </a:rPr>
              <a:t>Корпоративные правила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000000"/>
                </a:solidFill>
                <a:latin typeface="Arial"/>
              </a:rPr>
              <a:t>Качество можно измерять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00112"/>
            <a:ext cx="1819275" cy="1600200"/>
          </a:xfrm>
          <a:prstGeom prst="roundRect">
            <a:avLst/>
          </a:prstGeom>
          <a:solidFill>
            <a:srgbClr val="FEFFFF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00112"/>
            <a:ext cx="1819275" cy="96012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2800" b="1">
                <a:solidFill>
                  <a:srgbClr val="0077FF"/>
                </a:solidFill>
                <a:latin typeface="Arial"/>
              </a:rPr>
              <a:t>≥95%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60232"/>
            <a:ext cx="1819275" cy="64008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1300">
                <a:solidFill>
                  <a:srgbClr val="000000"/>
                </a:solidFill>
                <a:latin typeface="Arial"/>
              </a:rPr>
              <a:t>Корректная сборка слайдов без нарушения layout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93975" y="900112"/>
            <a:ext cx="1819275" cy="1600200"/>
          </a:xfrm>
          <a:prstGeom prst="roundRect">
            <a:avLst/>
          </a:prstGeom>
          <a:solidFill>
            <a:srgbClr val="FEFFFF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93975" y="900112"/>
            <a:ext cx="1819275" cy="96012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2800" b="1">
                <a:solidFill>
                  <a:srgbClr val="0077FF"/>
                </a:solidFill>
                <a:latin typeface="Arial"/>
              </a:rPr>
              <a:t>≥90%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93975" y="1860232"/>
            <a:ext cx="1819275" cy="64008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Arial"/>
              </a:rPr>
              <a:t>Соответствие корпоративным правилам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30750" y="900112"/>
            <a:ext cx="1819275" cy="1600200"/>
          </a:xfrm>
          <a:prstGeom prst="roundRect">
            <a:avLst/>
          </a:prstGeom>
          <a:solidFill>
            <a:srgbClr val="FEFFFF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30750" y="900112"/>
            <a:ext cx="1819275" cy="96012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2800" b="1">
                <a:solidFill>
                  <a:srgbClr val="0077FF"/>
                </a:solidFill>
                <a:latin typeface="Arial"/>
              </a:rPr>
              <a:t>≤10%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0750" y="1860232"/>
            <a:ext cx="1819275" cy="64008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1300">
                <a:solidFill>
                  <a:srgbClr val="000000"/>
                </a:solidFill>
                <a:latin typeface="Arial"/>
              </a:rPr>
              <a:t>Слайды, требующие ручной корректировки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67525" y="900112"/>
            <a:ext cx="1819275" cy="1600200"/>
          </a:xfrm>
          <a:prstGeom prst="roundRect">
            <a:avLst/>
          </a:prstGeom>
          <a:solidFill>
            <a:srgbClr val="FEFFFF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67525" y="900112"/>
            <a:ext cx="1819275" cy="96012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2800" b="1">
                <a:solidFill>
                  <a:srgbClr val="0077FF"/>
                </a:solidFill>
                <a:latin typeface="Arial"/>
              </a:rPr>
              <a:t>&lt;2 минут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67525" y="1860232"/>
            <a:ext cx="1819275" cy="64008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Arial"/>
              </a:rPr>
              <a:t>Генерация 10–15 слайдов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FAFCFF"/>
                </a:solidFill>
                <a:latin typeface="Arial"/>
              </a:rPr>
              <a:t>Бизнес-эффект от использования сервиса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00112"/>
            <a:ext cx="8229600" cy="3729037"/>
          </a:xfrm>
          <a:prstGeom prst="roundRect">
            <a:avLst/>
          </a:prstGeom>
          <a:solidFill>
            <a:srgbClr val="FAFCFF"/>
          </a:solidFill>
          <a:ln>
            <a:solidFill>
              <a:srgbClr val="FE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57200" y="1000112"/>
          <a:ext cx="8029600" cy="352903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000000"/>
                </a:solidFill>
                <a:latin typeface="Arial"/>
              </a:rPr>
              <a:t>Дополнительные преимущества компании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85748" y="1127760"/>
            <a:ext cx="4226228" cy="1607228"/>
          </a:xfrm>
          <a:prstGeom prst="roundRect">
            <a:avLst/>
          </a:prstGeom>
          <a:solidFill>
            <a:srgbClr val="EBEDEF"/>
          </a:solidFill>
          <a:ln>
            <a:solidFill>
              <a:srgbClr val="00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48" y="1736374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0748" y="1826374"/>
            <a:ext cx="109200" cy="36000"/>
          </a:xfrm>
          <a:prstGeom prst="round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0748" y="1911374"/>
            <a:ext cx="176800" cy="36000"/>
          </a:xfrm>
          <a:prstGeom prst="round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0748" y="1996374"/>
            <a:ext cx="228800" cy="36000"/>
          </a:xfrm>
          <a:prstGeom prst="round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5748" y="1187760"/>
            <a:ext cx="3616228" cy="14872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rial"/>
              </a:rPr>
              <a:t>Единый корпоративный стиль</a:t>
            </a:r>
          </a:p>
          <a:p>
            <a:r>
              <a:rPr sz="1400" b="0">
                <a:solidFill>
                  <a:srgbClr val="000000"/>
                </a:solidFill>
                <a:latin typeface="Arial"/>
              </a:rPr>
              <a:t>Презентации выглядят одинаково независимо от навыков конкретного сотрудника.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31976" y="1127760"/>
            <a:ext cx="4226228" cy="1607228"/>
          </a:xfrm>
          <a:prstGeom prst="roundRect">
            <a:avLst/>
          </a:prstGeom>
          <a:solidFill>
            <a:srgbClr val="EBEDEF"/>
          </a:solidFill>
          <a:ln>
            <a:solidFill>
              <a:srgbClr val="00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11976" y="1736374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76976" y="1826374"/>
            <a:ext cx="109200" cy="36000"/>
          </a:xfrm>
          <a:prstGeom prst="round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76976" y="1911374"/>
            <a:ext cx="176800" cy="36000"/>
          </a:xfrm>
          <a:prstGeom prst="round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76976" y="1996374"/>
            <a:ext cx="228800" cy="36000"/>
          </a:xfrm>
          <a:prstGeom prst="round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71976" y="1187760"/>
            <a:ext cx="3616228" cy="14872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rial"/>
              </a:rPr>
              <a:t>Быстрая коммуникация</a:t>
            </a:r>
          </a:p>
          <a:p>
            <a:r>
              <a:rPr sz="1400" b="0">
                <a:solidFill>
                  <a:srgbClr val="000000"/>
                </a:solidFill>
                <a:latin typeface="Arial"/>
              </a:rPr>
              <a:t>Аналитик или менеджер может быстрее превратить результаты работы в понятный материал.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5748" y="2854988"/>
            <a:ext cx="4226228" cy="1607228"/>
          </a:xfrm>
          <a:prstGeom prst="roundRect">
            <a:avLst/>
          </a:prstGeom>
          <a:solidFill>
            <a:srgbClr val="EBEDEF"/>
          </a:solidFill>
          <a:ln>
            <a:solidFill>
              <a:srgbClr val="00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5748" y="3463602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0748" y="3553602"/>
            <a:ext cx="109200" cy="36000"/>
          </a:xfrm>
          <a:prstGeom prst="round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0748" y="3638602"/>
            <a:ext cx="176800" cy="36000"/>
          </a:xfrm>
          <a:prstGeom prst="round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0748" y="3723602"/>
            <a:ext cx="228800" cy="36000"/>
          </a:xfrm>
          <a:prstGeom prst="round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5748" y="2914988"/>
            <a:ext cx="3616228" cy="14872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rial"/>
              </a:rPr>
              <a:t>Масштабирование лучших практик</a:t>
            </a:r>
          </a:p>
          <a:p>
            <a:r>
              <a:rPr sz="1400" b="0">
                <a:solidFill>
                  <a:srgbClr val="000000"/>
                </a:solidFill>
                <a:latin typeface="Arial"/>
              </a:rPr>
              <a:t>Хорошая структура презентации становится частью продукта, а не личным навыком отдельных сотрудников.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31976" y="2854988"/>
            <a:ext cx="4226228" cy="1607228"/>
          </a:xfrm>
          <a:prstGeom prst="roundRect">
            <a:avLst/>
          </a:prstGeom>
          <a:solidFill>
            <a:srgbClr val="EBEDEF"/>
          </a:solidFill>
          <a:ln>
            <a:solidFill>
              <a:srgbClr val="00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711976" y="3463602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776976" y="3553602"/>
            <a:ext cx="109200" cy="36000"/>
          </a:xfrm>
          <a:prstGeom prst="round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776976" y="3638602"/>
            <a:ext cx="176800" cy="36000"/>
          </a:xfrm>
          <a:prstGeom prst="round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776976" y="3723602"/>
            <a:ext cx="228800" cy="36000"/>
          </a:xfrm>
          <a:prstGeom prst="round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71976" y="2914988"/>
            <a:ext cx="3616228" cy="14872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rial"/>
              </a:rPr>
              <a:t>Снижение рутинных операций</a:t>
            </a:r>
          </a:p>
          <a:p>
            <a:r>
              <a:rPr sz="1400" b="0">
                <a:solidFill>
                  <a:srgbClr val="000000"/>
                </a:solidFill>
                <a:latin typeface="Arial"/>
              </a:rPr>
              <a:t>Сотрудник концентрируется на выводах, данных, решениях и бизнес-смысле, а не на работе с шрифтами, отступами и расположением блоков.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FAFCFF"/>
                </a:solidFill>
                <a:latin typeface="Arial"/>
              </a:rPr>
              <a:t>Продукт развивается от MVP до полноценной корпоративной платформы с расширенными функциями.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anchor="ctr"/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00" b="1">
                <a:solidFill>
                  <a:srgbClr val="FAFCFF"/>
                </a:solidFill>
                <a:latin typeface="Arial"/>
              </a:rPr>
              <a:t>Развитие продукта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000000"/>
                </a:solidFill>
                <a:latin typeface="Arial"/>
              </a:rPr>
              <a:t>От данных до презентации — за минуты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5749" y="1127760"/>
            <a:ext cx="8553405" cy="3099917"/>
          </a:xfrm>
          <a:prstGeom prst="rect">
            <a:avLst/>
          </a:prstGeom>
          <a:noFill/>
        </p:spPr>
        <p:txBody>
          <a:bodyPr wrap="none" lIns="76200" rIns="76200" tIns="76200" bIns="7620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AI создаёт содержание.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Система гарантирует корпоративный формат.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Быстро создавать качественные презентации.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