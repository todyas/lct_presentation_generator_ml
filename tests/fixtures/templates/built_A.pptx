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10.0</c:v>
                </c:pt>
                <c:pt idx="1">
                  <c:v>20.0</c:v>
                </c:pt>
                <c:pt idx="2">
                  <c:v>30.0</c:v>
                </c:pt>
                <c:pt idx="3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15.0</c:v>
                </c:pt>
                <c:pt idx="1">
                  <c:v>28.0</c:v>
                </c:pt>
                <c:pt idx="2">
                  <c:v>45.0</c:v>
                </c:pt>
                <c:pt idx="3">
                  <c:v>62.0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AI Презентации: Запуск Продукта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/>
              <a:t>Конверсия выросла в 2.5 раза за счет авто-верстки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417638"/>
            <a:ext cx="7315200" cy="1500000"/>
          </a:xfrm>
          <a:prstGeom prst="roundRect">
            <a:avLst/>
          </a:prstGeom>
          <a:solidFill>
            <a:srgbClr val="EEECE1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638"/>
            <a:ext cx="73152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+250%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17638"/>
            <a:ext cx="73152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Прирост скорости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09078"/>
            <a:ext cx="7315200" cy="1500000"/>
          </a:xfrm>
          <a:prstGeom prst="roundRect">
            <a:avLst/>
          </a:prstGeom>
          <a:solidFill>
            <a:srgbClr val="EEECE1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09078"/>
            <a:ext cx="73152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4.5 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09078"/>
            <a:ext cx="73152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Экономия времени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/>
              <a:t>Динамика внедрения превзошла плановые ожидания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638"/>
          <a:ext cx="7315200" cy="15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3: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4: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5: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6: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7: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8: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Стратегический этап 9: Интеграция пайплайна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latin typeface="Calibri"/>
              </a:rPr>
              <a:t>Разделение программных слоев завершено успешно.</a:t>
            </a:r>
          </a:p>
          <a:p>
            <a:r>
              <a:rPr sz="1700">
                <a:latin typeface="Calibri"/>
              </a:rPr>
              <a:t>Детерминированный аудит исключает наложение блоков.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